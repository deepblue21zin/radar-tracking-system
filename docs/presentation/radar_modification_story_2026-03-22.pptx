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B4057-C1F6-630E-C3B9-E3EE2A086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3A0D79-F589-0A3F-1B4A-766F2F3BB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6536E3-89D7-2299-693D-D35E2BFE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218FA-6647-42D3-9386-682446512F4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CC9737-551B-C272-B584-7AB878CE3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B2337B-6417-5C3B-A4FC-0D697231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35F5D-766F-4F84-B3D2-A378C68AD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44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F0456-FDB7-B2A5-550D-FDB8581B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45B2FA-A456-DA90-4000-D7E0249E0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ECD8F5-5703-479F-456C-3E57EDBFE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218FA-6647-42D3-9386-682446512F4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A69895-2D5E-513D-C425-45ABDE130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387418-3174-8DFD-1F73-24E0BAC9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35F5D-766F-4F84-B3D2-A378C68AD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895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696487-19B5-5311-E7E5-672968C9B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1A4022-4712-72DF-7C8E-C03C919AC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83B17D-C0D8-DA48-E435-9E8A35F1E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218FA-6647-42D3-9386-682446512F4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FC37CC-A1CA-E2A0-8009-7772EC5A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B6631A-DDF9-E0CC-82F9-F0B70438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35F5D-766F-4F84-B3D2-A378C68AD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419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EC2912-7CCD-738F-3314-F661FC103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052B5D-CD06-B552-B87B-03E069F62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C681C3-B149-21EC-A734-945E0A01A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2352AD-327D-5441-C7F0-6EC8126F6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218FA-6647-42D3-9386-682446512F4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5BA2DB-1D52-A7FB-9157-F19D6761B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2D0ADE-E9C3-DF39-4465-D093307DF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35F5D-766F-4F84-B3D2-A378C68AD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842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FF8C24-D821-0859-E141-E043CF634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D33064-D44E-78A7-DE95-1685A8318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42F1DC-2D38-380B-C156-5D7398685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1D721B-59C2-AE01-BA14-E72613A4F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B7A97C-8DB7-4FA5-D31E-AEBF31177A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859B0BC-DFBD-01CD-BE42-AB5D2C11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218FA-6647-42D3-9386-682446512F4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9E7A84-26EF-8EC2-62E7-EE9DD8129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2A88FF5-B9DD-5A7F-E3B4-7BFA5EAF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35F5D-766F-4F84-B3D2-A378C68AD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092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DFDEF3-3DDA-2E1D-03B9-9BDB1B792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8EFC5C-458D-180B-44F2-83F238F24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218FA-6647-42D3-9386-682446512F4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E2B58D-33F0-90CF-B722-511285BC5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57E6BE-F949-1FE9-F81F-5318C72A8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35F5D-766F-4F84-B3D2-A378C68AD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430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9E41B6-B5C8-2C1D-292B-1679072CB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218FA-6647-42D3-9386-682446512F4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12C307-23E9-87AE-7350-534CDFC5D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158951-F73F-6332-92D0-C043D5FE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35F5D-766F-4F84-B3D2-A378C68AD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06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9CAFB9-C8B3-4C06-A8C1-3BB396A3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B42208-02B0-76B5-7783-F35278891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53620D-B356-5562-F0C2-BD39C10AF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AEC123-F4EF-2A26-8B9A-0A42A0D8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218FA-6647-42D3-9386-682446512F4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F1C18C-E671-024F-C987-54B59919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04E42F-4332-073B-370C-6994186FD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35F5D-766F-4F84-B3D2-A378C68AD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162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23B9E4-9A64-C361-C070-4FB177103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750427-B4D2-0191-D720-CB0B1254BE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81892C-A585-2C36-58B3-12685FD94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86584D-3781-2D74-C2F2-1B88C4AF7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218FA-6647-42D3-9386-682446512F4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E2276B-18FE-9C0E-9F98-1B9487FB7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93FCE0-829A-C085-C105-6A0BDCA6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35F5D-766F-4F84-B3D2-A378C68AD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751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86FF25-DA18-E50E-B859-C347CF9DC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760A4C-D178-0C53-8A6C-0243E631D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3B2945-B695-2552-EBC0-B2FCE6D0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218FA-6647-42D3-9386-682446512F4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CFA4C1-C7F6-21B2-55AD-114E42A47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60F385-0AA2-7150-A87B-2531AE4B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35F5D-766F-4F84-B3D2-A378C68AD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674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4B603F-5D58-19FA-C215-CCC8143BC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78352D-7FC0-67CF-4AAC-855579E45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780EEA-0539-C8FB-E804-83C2958D9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218FA-6647-42D3-9386-682446512F4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9B1E95-533B-C66E-60F5-ED3EE3B08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660B6-2638-3695-170A-88F8BFA6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35F5D-766F-4F84-B3D2-A378C68AD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524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80D0F6-483B-A4D8-7E98-0FB53B971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2B9EC8-826D-1822-E52F-F604E11C7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0F025F-DE9C-650F-1AA3-F1AE03269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218FA-6647-42D3-9386-682446512F4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3E4786-ECB9-C7DB-DB45-7E068756C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EC7304-9714-5B25-CB3C-7D0CAD357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35F5D-766F-4F84-B3D2-A378C68AD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77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6967BCA-0FE4-6B9C-65B3-DA3A3E47935D}"/>
              </a:ext>
            </a:extLst>
          </p:cNvPr>
          <p:cNvSpPr/>
          <p:nvPr/>
        </p:nvSpPr>
        <p:spPr>
          <a:xfrm>
            <a:off x="304800" y="228600"/>
            <a:ext cx="11582400" cy="8890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DCF9D9F-08B7-8E50-B9FA-559DA388ED5C}"/>
              </a:ext>
            </a:extLst>
          </p:cNvPr>
          <p:cNvSpPr/>
          <p:nvPr/>
        </p:nvSpPr>
        <p:spPr>
          <a:xfrm>
            <a:off x="304800" y="1041400"/>
            <a:ext cx="2286000" cy="50800"/>
          </a:xfrm>
          <a:prstGeom prst="rect">
            <a:avLst/>
          </a:prstGeom>
          <a:solidFill>
            <a:srgbClr val="E4AA4A"/>
          </a:solidFill>
          <a:ln w="0">
            <a:solidFill>
              <a:srgbClr val="E4A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5D54D-5D1E-BC41-A8FF-A7894AFC142A}"/>
              </a:ext>
            </a:extLst>
          </p:cNvPr>
          <p:cNvSpPr txBox="1"/>
          <p:nvPr/>
        </p:nvSpPr>
        <p:spPr>
          <a:xfrm>
            <a:off x="508000" y="330200"/>
            <a:ext cx="78740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Radar Tracking System</a:t>
            </a:r>
            <a:endParaRPr lang="ko-KR" altLang="en-US" sz="28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09F020-134D-1055-C49A-AF5595F90EB7}"/>
              </a:ext>
            </a:extLst>
          </p:cNvPr>
          <p:cNvSpPr txBox="1"/>
          <p:nvPr/>
        </p:nvSpPr>
        <p:spPr>
          <a:xfrm>
            <a:off x="508000" y="698500"/>
            <a:ext cx="9398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라이브러리 도입 이후 왜 수정이 계속 필요했는가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F4E6ED-4E2F-67CD-AE1D-1AD9CCDB9A71}"/>
              </a:ext>
            </a:extLst>
          </p:cNvPr>
          <p:cNvSpPr/>
          <p:nvPr/>
        </p:nvSpPr>
        <p:spPr>
          <a:xfrm>
            <a:off x="609600" y="1600200"/>
            <a:ext cx="10668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92CD4-3D92-E185-939A-4E38672E2512}"/>
              </a:ext>
            </a:extLst>
          </p:cNvPr>
          <p:cNvSpPr txBox="1"/>
          <p:nvPr/>
        </p:nvSpPr>
        <p:spPr>
          <a:xfrm>
            <a:off x="838200" y="1828800"/>
            <a:ext cx="10160000" cy="86177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300" b="1">
                <a:solidFill>
                  <a:srgbClr val="1C242E"/>
                </a:solidFill>
                <a:latin typeface="Malgun Gothic" panose="020B0503020000020004" pitchFamily="50" charset="-127"/>
              </a:rPr>
              <a:t>발표 목적</a:t>
            </a:r>
            <a:r>
              <a:rPr lang="en-US" altLang="ko-KR" sz="2300" b="1">
                <a:solidFill>
                  <a:srgbClr val="1C242E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2300" b="1">
                <a:solidFill>
                  <a:srgbClr val="1C242E"/>
                </a:solidFill>
                <a:latin typeface="Malgun Gothic" panose="020B0503020000020004" pitchFamily="50" charset="-127"/>
              </a:rPr>
              <a:t>가져온 알고리즘을 “실제 장비에서 믿을 수 있는 시스템”으로 바꾸기 위해 무엇을 왜 수정했는지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D048FE-A341-7C53-1980-EBDB1B5A7A20}"/>
              </a:ext>
            </a:extLst>
          </p:cNvPr>
          <p:cNvSpPr/>
          <p:nvPr/>
        </p:nvSpPr>
        <p:spPr>
          <a:xfrm>
            <a:off x="609600" y="3378200"/>
            <a:ext cx="3429000" cy="2616200"/>
          </a:xfrm>
          <a:prstGeom prst="rect">
            <a:avLst/>
          </a:prstGeom>
          <a:solidFill>
            <a:srgbClr val="E8F1FC"/>
          </a:solidFill>
          <a:ln w="19050">
            <a:solidFill>
              <a:srgbClr val="2A73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3CBCC-55FA-67AA-B224-F3E2E1662EA8}"/>
              </a:ext>
            </a:extLst>
          </p:cNvPr>
          <p:cNvSpPr txBox="1"/>
          <p:nvPr/>
        </p:nvSpPr>
        <p:spPr>
          <a:xfrm>
            <a:off x="812800" y="3632200"/>
            <a:ext cx="3022600" cy="4924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출발점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CAD4B6-4E91-2FC6-9CDF-7C860886376E}"/>
              </a:ext>
            </a:extLst>
          </p:cNvPr>
          <p:cNvSpPr txBox="1"/>
          <p:nvPr/>
        </p:nvSpPr>
        <p:spPr>
          <a:xfrm>
            <a:off x="787400" y="4114800"/>
            <a:ext cx="3098800" cy="261610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TLV Parse -&gt; Filter -&gt; DBSCAN -&gt; Kalman -&gt; Viewer/Control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파이프라인 구성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scikit-learn, FilterPy, TI mmWave parsing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아이디어 활용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초기 목표는 빠른 동작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19EFCC-6BB0-DD11-065B-59B87BC4CE90}"/>
              </a:ext>
            </a:extLst>
          </p:cNvPr>
          <p:cNvSpPr/>
          <p:nvPr/>
        </p:nvSpPr>
        <p:spPr>
          <a:xfrm>
            <a:off x="4318000" y="3378200"/>
            <a:ext cx="3429000" cy="2616200"/>
          </a:xfrm>
          <a:prstGeom prst="rect">
            <a:avLst/>
          </a:prstGeom>
          <a:solidFill>
            <a:srgbClr val="E6F5F0"/>
          </a:solidFill>
          <a:ln w="19050">
            <a:solidFill>
              <a:srgbClr val="2B6E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D7BD3E-DA0A-8687-986F-FA851942A6D7}"/>
              </a:ext>
            </a:extLst>
          </p:cNvPr>
          <p:cNvSpPr txBox="1"/>
          <p:nvPr/>
        </p:nvSpPr>
        <p:spPr>
          <a:xfrm>
            <a:off x="4521200" y="3632200"/>
            <a:ext cx="3022600" cy="4924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실제로 드러난 문제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0B2075-181B-3715-11EF-DA8DE26FBD0D}"/>
              </a:ext>
            </a:extLst>
          </p:cNvPr>
          <p:cNvSpPr txBox="1"/>
          <p:nvPr/>
        </p:nvSpPr>
        <p:spPr>
          <a:xfrm>
            <a:off x="4495800" y="4114800"/>
            <a:ext cx="3098800" cy="163121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환경 재현성 부족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parser validity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continuity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불안정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viewer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를 믿기 어려움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0BE8852-E4D7-0CB6-BC78-83F0B18D7D60}"/>
              </a:ext>
            </a:extLst>
          </p:cNvPr>
          <p:cNvSpPr/>
          <p:nvPr/>
        </p:nvSpPr>
        <p:spPr>
          <a:xfrm>
            <a:off x="8026400" y="3378200"/>
            <a:ext cx="3251200" cy="2616200"/>
          </a:xfrm>
          <a:prstGeom prst="rect">
            <a:avLst/>
          </a:prstGeom>
          <a:solidFill>
            <a:srgbClr val="FFF5DD"/>
          </a:solidFill>
          <a:ln w="19050">
            <a:solidFill>
              <a:srgbClr val="C98C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6DA53B-C9C1-6B85-E54E-7D13056E6C81}"/>
              </a:ext>
            </a:extLst>
          </p:cNvPr>
          <p:cNvSpPr txBox="1"/>
          <p:nvPr/>
        </p:nvSpPr>
        <p:spPr>
          <a:xfrm>
            <a:off x="8229600" y="3632200"/>
            <a:ext cx="2844800" cy="4924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핵심 메시지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CF4584-975F-B046-365F-07BF48D77571}"/>
              </a:ext>
            </a:extLst>
          </p:cNvPr>
          <p:cNvSpPr txBox="1"/>
          <p:nvPr/>
        </p:nvSpPr>
        <p:spPr>
          <a:xfrm>
            <a:off x="8204200" y="4114800"/>
            <a:ext cx="2921000" cy="212365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라이브러리는 알고리즘 블록만 준다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실제 장비에서는 시스템 정합성과 디버깅 가능성이 먼저 중요하다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그래서 수정이 반복되었다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35CE50-F79F-28DF-3798-B52195ED4A82}"/>
              </a:ext>
            </a:extLst>
          </p:cNvPr>
          <p:cNvSpPr txBox="1"/>
          <p:nvPr/>
        </p:nvSpPr>
        <p:spPr>
          <a:xfrm>
            <a:off x="711200" y="6400800"/>
            <a:ext cx="109220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교수님께 전달할 한 문장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: “</a:t>
            </a:r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알고리즘을 가져온 뒤부터가 오히려 진짜 엔지니어링의 시작이었다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.”</a:t>
            </a:r>
            <a:endParaRPr lang="ko-KR" altLang="en-US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A31B2C-6B64-500E-7865-37EA0DBCD951}"/>
              </a:ext>
            </a:extLst>
          </p:cNvPr>
          <p:cNvSpPr txBox="1"/>
          <p:nvPr/>
        </p:nvSpPr>
        <p:spPr>
          <a:xfrm>
            <a:off x="457200" y="6680200"/>
            <a:ext cx="38100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fr-FR" altLang="ko-KR" sz="900">
                <a:solidFill>
                  <a:srgbClr val="6F7A8A"/>
                </a:solidFill>
                <a:latin typeface="Malgun Gothic" panose="020B0503020000020004" pitchFamily="50" charset="-127"/>
              </a:rPr>
              <a:t>Source: docs/experiment_journal.md, docs/performance_log.md, docs/correction report/*</a:t>
            </a:r>
            <a:endParaRPr lang="ko-KR" altLang="en-US" sz="9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4832AF-3D1C-1EC3-1DE9-F417108C1DAB}"/>
              </a:ext>
            </a:extLst>
          </p:cNvPr>
          <p:cNvSpPr txBox="1"/>
          <p:nvPr/>
        </p:nvSpPr>
        <p:spPr>
          <a:xfrm>
            <a:off x="11099800" y="66802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000">
                <a:solidFill>
                  <a:srgbClr val="6F7A8A"/>
                </a:solidFill>
                <a:latin typeface="Malgun Gothic" panose="020B0503020000020004" pitchFamily="50" charset="-127"/>
              </a:rPr>
              <a:t>1</a:t>
            </a:r>
            <a:endParaRPr lang="ko-KR" altLang="en-US" sz="10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2266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44D33BB-F9B1-554F-80AF-3DC44ABFDC68}"/>
              </a:ext>
            </a:extLst>
          </p:cNvPr>
          <p:cNvSpPr/>
          <p:nvPr/>
        </p:nvSpPr>
        <p:spPr>
          <a:xfrm>
            <a:off x="304800" y="228600"/>
            <a:ext cx="11582400" cy="8890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018B4EF-1434-DB7F-993D-43D80211621F}"/>
              </a:ext>
            </a:extLst>
          </p:cNvPr>
          <p:cNvSpPr/>
          <p:nvPr/>
        </p:nvSpPr>
        <p:spPr>
          <a:xfrm>
            <a:off x="304800" y="1041400"/>
            <a:ext cx="2286000" cy="50800"/>
          </a:xfrm>
          <a:prstGeom prst="rect">
            <a:avLst/>
          </a:prstGeom>
          <a:solidFill>
            <a:srgbClr val="E4AA4A"/>
          </a:solidFill>
          <a:ln w="0">
            <a:solidFill>
              <a:srgbClr val="E4A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E8A8C-AE38-939D-224A-C4720C229D03}"/>
              </a:ext>
            </a:extLst>
          </p:cNvPr>
          <p:cNvSpPr txBox="1"/>
          <p:nvPr/>
        </p:nvSpPr>
        <p:spPr>
          <a:xfrm>
            <a:off x="508000" y="330200"/>
            <a:ext cx="78740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라이브러리 도입 직후 상태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7BD282-DED6-A0D9-5590-BBFC2557EC67}"/>
              </a:ext>
            </a:extLst>
          </p:cNvPr>
          <p:cNvSpPr txBox="1"/>
          <p:nvPr/>
        </p:nvSpPr>
        <p:spPr>
          <a:xfrm>
            <a:off x="508000" y="698500"/>
            <a:ext cx="9398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빠르게 파이프라인을 붙였지만</a:t>
            </a:r>
            <a:r>
              <a:rPr lang="en-US" altLang="ko-KR" sz="1100">
                <a:solidFill>
                  <a:srgbClr val="D2DDEE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실험실 환경에서는 시스템 문제가 먼저 드러났다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BB6555-D833-29B8-BC3D-380DF37DA1EB}"/>
              </a:ext>
            </a:extLst>
          </p:cNvPr>
          <p:cNvSpPr/>
          <p:nvPr/>
        </p:nvSpPr>
        <p:spPr>
          <a:xfrm>
            <a:off x="533400" y="1905000"/>
            <a:ext cx="1676400" cy="965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7AF4B-05D4-DFB7-A7CF-C46C5C9A679E}"/>
              </a:ext>
            </a:extLst>
          </p:cNvPr>
          <p:cNvSpPr txBox="1"/>
          <p:nvPr/>
        </p:nvSpPr>
        <p:spPr>
          <a:xfrm>
            <a:off x="635000" y="2209800"/>
            <a:ext cx="1473200" cy="44627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900" b="1">
                <a:solidFill>
                  <a:srgbClr val="172B4D"/>
                </a:solidFill>
                <a:latin typeface="Malgun Gothic" panose="020B0503020000020004" pitchFamily="50" charset="-127"/>
              </a:rPr>
              <a:t>TLV Parse</a:t>
            </a:r>
            <a:endParaRPr lang="ko-KR" altLang="en-US" sz="1900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9DE025-DCE8-FC13-5D83-D2BE4572256C}"/>
              </a:ext>
            </a:extLst>
          </p:cNvPr>
          <p:cNvSpPr txBox="1"/>
          <p:nvPr/>
        </p:nvSpPr>
        <p:spPr>
          <a:xfrm>
            <a:off x="2133600" y="2247900"/>
            <a:ext cx="406400" cy="89255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400" b="1">
                <a:solidFill>
                  <a:srgbClr val="6F7A8A"/>
                </a:solidFill>
                <a:latin typeface="Malgun Gothic" panose="020B0503020000020004" pitchFamily="50" charset="-127"/>
              </a:rPr>
              <a:t>-&gt;</a:t>
            </a:r>
            <a:endParaRPr lang="ko-KR" altLang="en-US" sz="2400" b="1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9F69E4-C7F6-6573-4EAC-CF8FE1F25CB4}"/>
              </a:ext>
            </a:extLst>
          </p:cNvPr>
          <p:cNvSpPr/>
          <p:nvPr/>
        </p:nvSpPr>
        <p:spPr>
          <a:xfrm>
            <a:off x="2413000" y="1905000"/>
            <a:ext cx="1676400" cy="965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6688E9-424C-4960-4D4C-34CE5579C46E}"/>
              </a:ext>
            </a:extLst>
          </p:cNvPr>
          <p:cNvSpPr txBox="1"/>
          <p:nvPr/>
        </p:nvSpPr>
        <p:spPr>
          <a:xfrm>
            <a:off x="2514600" y="2209800"/>
            <a:ext cx="1473200" cy="44627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900" b="1">
                <a:solidFill>
                  <a:srgbClr val="172B4D"/>
                </a:solidFill>
                <a:latin typeface="Malgun Gothic" panose="020B0503020000020004" pitchFamily="50" charset="-127"/>
              </a:rPr>
              <a:t>Filter</a:t>
            </a:r>
            <a:endParaRPr lang="ko-KR" altLang="en-US" sz="1900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1FB14-8B59-63B5-822F-A0F963EAF491}"/>
              </a:ext>
            </a:extLst>
          </p:cNvPr>
          <p:cNvSpPr txBox="1"/>
          <p:nvPr/>
        </p:nvSpPr>
        <p:spPr>
          <a:xfrm>
            <a:off x="4013200" y="2247900"/>
            <a:ext cx="406400" cy="89255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400" b="1">
                <a:solidFill>
                  <a:srgbClr val="6F7A8A"/>
                </a:solidFill>
                <a:latin typeface="Malgun Gothic" panose="020B0503020000020004" pitchFamily="50" charset="-127"/>
              </a:rPr>
              <a:t>-&gt;</a:t>
            </a:r>
            <a:endParaRPr lang="ko-KR" altLang="en-US" sz="2400" b="1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BB115F-6110-37B5-D27F-C0AE7C07659E}"/>
              </a:ext>
            </a:extLst>
          </p:cNvPr>
          <p:cNvSpPr/>
          <p:nvPr/>
        </p:nvSpPr>
        <p:spPr>
          <a:xfrm>
            <a:off x="4292600" y="1905000"/>
            <a:ext cx="1676400" cy="965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895238-483A-EF21-0BC9-D379016B9605}"/>
              </a:ext>
            </a:extLst>
          </p:cNvPr>
          <p:cNvSpPr txBox="1"/>
          <p:nvPr/>
        </p:nvSpPr>
        <p:spPr>
          <a:xfrm>
            <a:off x="4394200" y="2209800"/>
            <a:ext cx="1473200" cy="44627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900" b="1">
                <a:solidFill>
                  <a:srgbClr val="172B4D"/>
                </a:solidFill>
                <a:latin typeface="Malgun Gothic" panose="020B0503020000020004" pitchFamily="50" charset="-127"/>
              </a:rPr>
              <a:t>DBSCAN</a:t>
            </a:r>
            <a:endParaRPr lang="ko-KR" altLang="en-US" sz="1900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C45CAE-BD9F-EC13-2FCE-108181493BAE}"/>
              </a:ext>
            </a:extLst>
          </p:cNvPr>
          <p:cNvSpPr txBox="1"/>
          <p:nvPr/>
        </p:nvSpPr>
        <p:spPr>
          <a:xfrm>
            <a:off x="5892800" y="2247900"/>
            <a:ext cx="406400" cy="89255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400" b="1">
                <a:solidFill>
                  <a:srgbClr val="6F7A8A"/>
                </a:solidFill>
                <a:latin typeface="Malgun Gothic" panose="020B0503020000020004" pitchFamily="50" charset="-127"/>
              </a:rPr>
              <a:t>-&gt;</a:t>
            </a:r>
            <a:endParaRPr lang="ko-KR" altLang="en-US" sz="2400" b="1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DAB650-A51B-C74A-C5D4-FE3E246BC1AC}"/>
              </a:ext>
            </a:extLst>
          </p:cNvPr>
          <p:cNvSpPr/>
          <p:nvPr/>
        </p:nvSpPr>
        <p:spPr>
          <a:xfrm>
            <a:off x="6172200" y="1905000"/>
            <a:ext cx="1676400" cy="965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485D6D-59B4-4C4B-A5F4-3D7B41073D0E}"/>
              </a:ext>
            </a:extLst>
          </p:cNvPr>
          <p:cNvSpPr txBox="1"/>
          <p:nvPr/>
        </p:nvSpPr>
        <p:spPr>
          <a:xfrm>
            <a:off x="6273800" y="2209800"/>
            <a:ext cx="1473200" cy="44627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900" b="1">
                <a:solidFill>
                  <a:srgbClr val="172B4D"/>
                </a:solidFill>
                <a:latin typeface="Malgun Gothic" panose="020B0503020000020004" pitchFamily="50" charset="-127"/>
              </a:rPr>
              <a:t>Kalman</a:t>
            </a:r>
            <a:endParaRPr lang="ko-KR" altLang="en-US" sz="1900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F33F46-7372-E37A-B532-8DFCFBCFAFF5}"/>
              </a:ext>
            </a:extLst>
          </p:cNvPr>
          <p:cNvSpPr txBox="1"/>
          <p:nvPr/>
        </p:nvSpPr>
        <p:spPr>
          <a:xfrm>
            <a:off x="7772400" y="2247900"/>
            <a:ext cx="406400" cy="89255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400" b="1">
                <a:solidFill>
                  <a:srgbClr val="6F7A8A"/>
                </a:solidFill>
                <a:latin typeface="Malgun Gothic" panose="020B0503020000020004" pitchFamily="50" charset="-127"/>
              </a:rPr>
              <a:t>-&gt;</a:t>
            </a:r>
            <a:endParaRPr lang="ko-KR" altLang="en-US" sz="2400" b="1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28C3FCC-2459-16E7-06C9-EBC6F8573475}"/>
              </a:ext>
            </a:extLst>
          </p:cNvPr>
          <p:cNvSpPr/>
          <p:nvPr/>
        </p:nvSpPr>
        <p:spPr>
          <a:xfrm>
            <a:off x="8051800" y="1905000"/>
            <a:ext cx="1676400" cy="965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EC64F0-E550-3D0D-7DE2-6C67F41290FA}"/>
              </a:ext>
            </a:extLst>
          </p:cNvPr>
          <p:cNvSpPr txBox="1"/>
          <p:nvPr/>
        </p:nvSpPr>
        <p:spPr>
          <a:xfrm>
            <a:off x="8153400" y="2209800"/>
            <a:ext cx="1473200" cy="44627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900" b="1">
                <a:solidFill>
                  <a:srgbClr val="172B4D"/>
                </a:solidFill>
                <a:latin typeface="Malgun Gothic" panose="020B0503020000020004" pitchFamily="50" charset="-127"/>
              </a:rPr>
              <a:t>Viewer</a:t>
            </a:r>
            <a:endParaRPr lang="ko-KR" altLang="en-US" sz="1900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2C9188-D397-F78F-269E-39E7D5E88CAC}"/>
              </a:ext>
            </a:extLst>
          </p:cNvPr>
          <p:cNvSpPr txBox="1"/>
          <p:nvPr/>
        </p:nvSpPr>
        <p:spPr>
          <a:xfrm>
            <a:off x="9652000" y="2247900"/>
            <a:ext cx="406400" cy="89255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400" b="1">
                <a:solidFill>
                  <a:srgbClr val="6F7A8A"/>
                </a:solidFill>
                <a:latin typeface="Malgun Gothic" panose="020B0503020000020004" pitchFamily="50" charset="-127"/>
              </a:rPr>
              <a:t>-&gt;</a:t>
            </a:r>
            <a:endParaRPr lang="ko-KR" altLang="en-US" sz="2400" b="1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AA3F655-D495-AC4F-0F41-A3CBDF4DD5B0}"/>
              </a:ext>
            </a:extLst>
          </p:cNvPr>
          <p:cNvSpPr/>
          <p:nvPr/>
        </p:nvSpPr>
        <p:spPr>
          <a:xfrm>
            <a:off x="9931400" y="1905000"/>
            <a:ext cx="1676400" cy="965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10997C-1079-5458-1100-A1A11248C66E}"/>
              </a:ext>
            </a:extLst>
          </p:cNvPr>
          <p:cNvSpPr txBox="1"/>
          <p:nvPr/>
        </p:nvSpPr>
        <p:spPr>
          <a:xfrm>
            <a:off x="10033000" y="2209800"/>
            <a:ext cx="1473200" cy="44627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900" b="1">
                <a:solidFill>
                  <a:srgbClr val="172B4D"/>
                </a:solidFill>
                <a:latin typeface="Malgun Gothic" panose="020B0503020000020004" pitchFamily="50" charset="-127"/>
              </a:rPr>
              <a:t>Control</a:t>
            </a:r>
            <a:endParaRPr lang="ko-KR" altLang="en-US" sz="1900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F8B3849-D3EA-D552-1C3A-FD18D723D832}"/>
              </a:ext>
            </a:extLst>
          </p:cNvPr>
          <p:cNvSpPr/>
          <p:nvPr/>
        </p:nvSpPr>
        <p:spPr>
          <a:xfrm>
            <a:off x="584200" y="3378200"/>
            <a:ext cx="5410200" cy="2870200"/>
          </a:xfrm>
          <a:prstGeom prst="rect">
            <a:avLst/>
          </a:prstGeom>
          <a:solidFill>
            <a:srgbClr val="FCEBE9"/>
          </a:solidFill>
          <a:ln w="15240">
            <a:solidFill>
              <a:srgbClr val="D697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3AD715-68A2-2772-4C0F-5CEBCE6EB2D8}"/>
              </a:ext>
            </a:extLst>
          </p:cNvPr>
          <p:cNvSpPr txBox="1"/>
          <p:nvPr/>
        </p:nvSpPr>
        <p:spPr>
          <a:xfrm>
            <a:off x="787400" y="3632200"/>
            <a:ext cx="49784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300" b="1">
                <a:solidFill>
                  <a:srgbClr val="172B4D"/>
                </a:solidFill>
                <a:latin typeface="Malgun Gothic" panose="020B0503020000020004" pitchFamily="50" charset="-127"/>
              </a:rPr>
              <a:t>왜 바로 실전 품질이 나오지 않았나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A4658F-E61F-1A14-A0DA-9FBF9A886F9C}"/>
              </a:ext>
            </a:extLst>
          </p:cNvPr>
          <p:cNvSpPr txBox="1"/>
          <p:nvPr/>
        </p:nvSpPr>
        <p:spPr>
          <a:xfrm>
            <a:off x="762000" y="4140200"/>
            <a:ext cx="5054600" cy="286232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cfg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적용 결과를 바로 알 수 없어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bring-up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이 느렸다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malformed frame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과 누락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point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를 정상 데이터처럼 넘길 위험이 있었다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viewer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가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runtime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과 다른 계산 경로를 타면 잘못 튜닝할 수 있었다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실내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clutter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와 설치 자세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(yaw/pitch/height)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가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continuity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에 직접 영향했다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95017D0-639E-8D82-2A1B-89FB26CA4B4F}"/>
              </a:ext>
            </a:extLst>
          </p:cNvPr>
          <p:cNvSpPr/>
          <p:nvPr/>
        </p:nvSpPr>
        <p:spPr>
          <a:xfrm>
            <a:off x="6248400" y="3378200"/>
            <a:ext cx="5054600" cy="2870200"/>
          </a:xfrm>
          <a:prstGeom prst="rect">
            <a:avLst/>
          </a:prstGeom>
          <a:solidFill>
            <a:srgbClr val="E8F1FC"/>
          </a:solidFill>
          <a:ln w="15240">
            <a:solidFill>
              <a:srgbClr val="2A73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2F7395-8E14-DAD1-E322-DE1C034D406D}"/>
              </a:ext>
            </a:extLst>
          </p:cNvPr>
          <p:cNvSpPr txBox="1"/>
          <p:nvPr/>
        </p:nvSpPr>
        <p:spPr>
          <a:xfrm>
            <a:off x="6451600" y="3632200"/>
            <a:ext cx="46228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300" b="1">
                <a:solidFill>
                  <a:srgbClr val="172B4D"/>
                </a:solidFill>
                <a:latin typeface="Malgun Gothic" panose="020B0503020000020004" pitchFamily="50" charset="-127"/>
              </a:rPr>
              <a:t>그래서 수정의 목적이 바뀌었다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65569F-9904-6804-A21A-7A090B8C2134}"/>
              </a:ext>
            </a:extLst>
          </p:cNvPr>
          <p:cNvSpPr txBox="1"/>
          <p:nvPr/>
        </p:nvSpPr>
        <p:spPr>
          <a:xfrm>
            <a:off x="6426200" y="4140200"/>
            <a:ext cx="4699000" cy="2246769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“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알고리즘이 있냐”보다 “문제가 어디서 생기는지 보이게 하자”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“viewer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가 예쁘냐”보다 “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runtime truth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와 같은 결과를 보여주자”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“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속도가 빠르냐”보다 “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draw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logging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병목을 분리하자”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EE09E5-CE3A-1945-130C-9F23310A82D8}"/>
              </a:ext>
            </a:extLst>
          </p:cNvPr>
          <p:cNvSpPr txBox="1"/>
          <p:nvPr/>
        </p:nvSpPr>
        <p:spPr>
          <a:xfrm>
            <a:off x="457200" y="6680200"/>
            <a:ext cx="38100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fr-FR" altLang="ko-KR" sz="900">
                <a:solidFill>
                  <a:srgbClr val="6F7A8A"/>
                </a:solidFill>
                <a:latin typeface="Malgun Gothic" panose="020B0503020000020004" pitchFamily="50" charset="-127"/>
              </a:rPr>
              <a:t>Source: docs/experiment_journal.md, docs/performance_log.md, docs/correction report/*</a:t>
            </a:r>
            <a:endParaRPr lang="ko-KR" altLang="en-US" sz="9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09CB47-77D2-BE18-BAC9-5CD87A49A69F}"/>
              </a:ext>
            </a:extLst>
          </p:cNvPr>
          <p:cNvSpPr txBox="1"/>
          <p:nvPr/>
        </p:nvSpPr>
        <p:spPr>
          <a:xfrm>
            <a:off x="11099800" y="66802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000">
                <a:solidFill>
                  <a:srgbClr val="6F7A8A"/>
                </a:solidFill>
                <a:latin typeface="Malgun Gothic" panose="020B0503020000020004" pitchFamily="50" charset="-127"/>
              </a:rPr>
              <a:t>2</a:t>
            </a:r>
            <a:endParaRPr lang="ko-KR" altLang="en-US" sz="10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5159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FC9A49E-F191-02A9-B7B7-78469FCCA7F1}"/>
              </a:ext>
            </a:extLst>
          </p:cNvPr>
          <p:cNvSpPr/>
          <p:nvPr/>
        </p:nvSpPr>
        <p:spPr>
          <a:xfrm>
            <a:off x="304800" y="228600"/>
            <a:ext cx="11582400" cy="8890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B11FFD-9DB0-DB0A-6BF4-EFDC5D5294D6}"/>
              </a:ext>
            </a:extLst>
          </p:cNvPr>
          <p:cNvSpPr/>
          <p:nvPr/>
        </p:nvSpPr>
        <p:spPr>
          <a:xfrm>
            <a:off x="304800" y="1041400"/>
            <a:ext cx="2286000" cy="50800"/>
          </a:xfrm>
          <a:prstGeom prst="rect">
            <a:avLst/>
          </a:prstGeom>
          <a:solidFill>
            <a:srgbClr val="E4AA4A"/>
          </a:solidFill>
          <a:ln w="0">
            <a:solidFill>
              <a:srgbClr val="E4A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D9B6CB-3F26-F17C-2DD4-D174BD81D2B8}"/>
              </a:ext>
            </a:extLst>
          </p:cNvPr>
          <p:cNvSpPr txBox="1"/>
          <p:nvPr/>
        </p:nvSpPr>
        <p:spPr>
          <a:xfrm>
            <a:off x="508000" y="330200"/>
            <a:ext cx="78740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왜 수정이 반복적으로 필요했나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242C5-5430-4385-30E8-DF60C40B61C3}"/>
              </a:ext>
            </a:extLst>
          </p:cNvPr>
          <p:cNvSpPr txBox="1"/>
          <p:nvPr/>
        </p:nvSpPr>
        <p:spPr>
          <a:xfrm>
            <a:off x="508000" y="698500"/>
            <a:ext cx="9398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문제는 하나가 아니라 서로 얽힌 네 축에서 나왔다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BDFD5F-3073-ECFD-F32F-7A4D11A5FCB3}"/>
              </a:ext>
            </a:extLst>
          </p:cNvPr>
          <p:cNvSpPr/>
          <p:nvPr/>
        </p:nvSpPr>
        <p:spPr>
          <a:xfrm>
            <a:off x="609600" y="1930400"/>
            <a:ext cx="5207000" cy="1879600"/>
          </a:xfrm>
          <a:prstGeom prst="rect">
            <a:avLst/>
          </a:prstGeom>
          <a:solidFill>
            <a:srgbClr val="E8F1FC"/>
          </a:solidFill>
          <a:ln w="17780">
            <a:solidFill>
              <a:srgbClr val="2A73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CED0C-878A-1F2D-7571-01B28DF3565B}"/>
              </a:ext>
            </a:extLst>
          </p:cNvPr>
          <p:cNvSpPr txBox="1"/>
          <p:nvPr/>
        </p:nvSpPr>
        <p:spPr>
          <a:xfrm>
            <a:off x="812800" y="2108200"/>
            <a:ext cx="4800600" cy="4924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환경 재현성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32111-A257-E8BD-E175-FD8B63D1FF90}"/>
              </a:ext>
            </a:extLst>
          </p:cNvPr>
          <p:cNvSpPr txBox="1"/>
          <p:nvPr/>
        </p:nvSpPr>
        <p:spPr>
          <a:xfrm>
            <a:off x="812800" y="2590800"/>
            <a:ext cx="4800600" cy="89255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requirements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정리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직접 실행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import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수정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, cfg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응답 로그가 없으면 팀원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PC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에서 같은 문제가 재현되지 않았다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73B4CA-4001-0D6F-5B2B-233D15D13021}"/>
              </a:ext>
            </a:extLst>
          </p:cNvPr>
          <p:cNvSpPr/>
          <p:nvPr/>
        </p:nvSpPr>
        <p:spPr>
          <a:xfrm>
            <a:off x="6248400" y="1930400"/>
            <a:ext cx="5207000" cy="1879600"/>
          </a:xfrm>
          <a:prstGeom prst="rect">
            <a:avLst/>
          </a:prstGeom>
          <a:solidFill>
            <a:srgbClr val="FCEBE9"/>
          </a:solidFill>
          <a:ln w="17780">
            <a:solidFill>
              <a:srgbClr val="BC6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B282E2-ED8F-CDE9-05D5-57EA1758AF60}"/>
              </a:ext>
            </a:extLst>
          </p:cNvPr>
          <p:cNvSpPr txBox="1"/>
          <p:nvPr/>
        </p:nvSpPr>
        <p:spPr>
          <a:xfrm>
            <a:off x="6451600" y="2108200"/>
            <a:ext cx="4800600" cy="4924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2. Parser validity</a:t>
            </a:r>
            <a:endParaRPr lang="ko-KR" altLang="en-US" sz="2200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2FE32F-9301-B15B-A3A4-4582B9D45F73}"/>
              </a:ext>
            </a:extLst>
          </p:cNvPr>
          <p:cNvSpPr txBox="1"/>
          <p:nvPr/>
        </p:nvSpPr>
        <p:spPr>
          <a:xfrm>
            <a:off x="6451600" y="2590800"/>
            <a:ext cx="4800600" cy="89255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Type1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누락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, malformed frame, resync, dropped frame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를 분리하지 못하면 잘못된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point cloud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가 “정상”으로 보였다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F16970-BD32-CE9A-7F15-0893DDD9633D}"/>
              </a:ext>
            </a:extLst>
          </p:cNvPr>
          <p:cNvSpPr/>
          <p:nvPr/>
        </p:nvSpPr>
        <p:spPr>
          <a:xfrm>
            <a:off x="609600" y="4140200"/>
            <a:ext cx="5207000" cy="1879600"/>
          </a:xfrm>
          <a:prstGeom prst="rect">
            <a:avLst/>
          </a:prstGeom>
          <a:solidFill>
            <a:srgbClr val="E6F5F0"/>
          </a:solidFill>
          <a:ln w="17780">
            <a:solidFill>
              <a:srgbClr val="2B6E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28CF6E-A6D4-F234-BFC0-66AF61308028}"/>
              </a:ext>
            </a:extLst>
          </p:cNvPr>
          <p:cNvSpPr txBox="1"/>
          <p:nvPr/>
        </p:nvSpPr>
        <p:spPr>
          <a:xfrm>
            <a:off x="812800" y="4318000"/>
            <a:ext cx="4800600" cy="4924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3. Viewer </a:t>
            </a:r>
            <a:r>
              <a:rPr lang="ko-KR" altLang="en-US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신뢰성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FE06DB-BA56-7592-B2B1-00D9E1AC5614}"/>
              </a:ext>
            </a:extLst>
          </p:cNvPr>
          <p:cNvSpPr txBox="1"/>
          <p:nvPr/>
        </p:nvSpPr>
        <p:spPr>
          <a:xfrm>
            <a:off x="812800" y="4800600"/>
            <a:ext cx="4800600" cy="6463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viewer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runtime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이 다른 계산 경로를 타면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화면은 괜찮아 보여도 실제 로그와 다를 수 있었다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7141FD-DAD6-5BF9-09ED-E515C3386C3C}"/>
              </a:ext>
            </a:extLst>
          </p:cNvPr>
          <p:cNvSpPr/>
          <p:nvPr/>
        </p:nvSpPr>
        <p:spPr>
          <a:xfrm>
            <a:off x="6248400" y="4140200"/>
            <a:ext cx="5207000" cy="1879600"/>
          </a:xfrm>
          <a:prstGeom prst="rect">
            <a:avLst/>
          </a:prstGeom>
          <a:solidFill>
            <a:srgbClr val="FFF5DD"/>
          </a:solidFill>
          <a:ln w="17780">
            <a:solidFill>
              <a:srgbClr val="C98C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54E18D-B411-DBAE-BFCA-6EE7D776C270}"/>
              </a:ext>
            </a:extLst>
          </p:cNvPr>
          <p:cNvSpPr txBox="1"/>
          <p:nvPr/>
        </p:nvSpPr>
        <p:spPr>
          <a:xfrm>
            <a:off x="6451600" y="4318000"/>
            <a:ext cx="4800600" cy="4924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4. </a:t>
            </a:r>
            <a:r>
              <a:rPr lang="ko-KR" altLang="en-US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실내 설치 조건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251C04-79BE-59A8-E2C5-A466DE8F34F1}"/>
              </a:ext>
            </a:extLst>
          </p:cNvPr>
          <p:cNvSpPr txBox="1"/>
          <p:nvPr/>
        </p:nvSpPr>
        <p:spPr>
          <a:xfrm>
            <a:off x="6451600" y="4800600"/>
            <a:ext cx="4800600" cy="89255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실내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clutter, max_range, ROI, yaw/pitch/height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가 사람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continuity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track split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에 동시에 영향을 줬다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AFEEFC-A62D-89A4-2DAF-2252FC6CE0AE}"/>
              </a:ext>
            </a:extLst>
          </p:cNvPr>
          <p:cNvSpPr txBox="1"/>
          <p:nvPr/>
        </p:nvSpPr>
        <p:spPr>
          <a:xfrm>
            <a:off x="685800" y="6426200"/>
            <a:ext cx="10795000" cy="70788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정리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수정은 “코드가 틀려서”라기보다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라이브러리 위에 실제 장비용 시스템 계약과 관측 체계를 올리는 과정이었다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799659-800A-4EA3-4097-4639233A24BA}"/>
              </a:ext>
            </a:extLst>
          </p:cNvPr>
          <p:cNvSpPr txBox="1"/>
          <p:nvPr/>
        </p:nvSpPr>
        <p:spPr>
          <a:xfrm>
            <a:off x="457200" y="6680200"/>
            <a:ext cx="38100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fr-FR" altLang="ko-KR" sz="900">
                <a:solidFill>
                  <a:srgbClr val="6F7A8A"/>
                </a:solidFill>
                <a:latin typeface="Malgun Gothic" panose="020B0503020000020004" pitchFamily="50" charset="-127"/>
              </a:rPr>
              <a:t>Source: docs/experiment_journal.md, docs/performance_log.md, docs/correction report/*</a:t>
            </a:r>
            <a:endParaRPr lang="ko-KR" altLang="en-US" sz="9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B856C4-F0A8-486A-D472-067A7AE68140}"/>
              </a:ext>
            </a:extLst>
          </p:cNvPr>
          <p:cNvSpPr txBox="1"/>
          <p:nvPr/>
        </p:nvSpPr>
        <p:spPr>
          <a:xfrm>
            <a:off x="11099800" y="66802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000">
                <a:solidFill>
                  <a:srgbClr val="6F7A8A"/>
                </a:solidFill>
                <a:latin typeface="Malgun Gothic" panose="020B0503020000020004" pitchFamily="50" charset="-127"/>
              </a:rPr>
              <a:t>3</a:t>
            </a:r>
            <a:endParaRPr lang="ko-KR" altLang="en-US" sz="10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3885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EAB7B83-B965-6C21-8E2E-3C231D8CB10F}"/>
              </a:ext>
            </a:extLst>
          </p:cNvPr>
          <p:cNvSpPr/>
          <p:nvPr/>
        </p:nvSpPr>
        <p:spPr>
          <a:xfrm>
            <a:off x="304800" y="228600"/>
            <a:ext cx="11582400" cy="8890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CB4F2D-1C15-6982-B423-7165E091F036}"/>
              </a:ext>
            </a:extLst>
          </p:cNvPr>
          <p:cNvSpPr/>
          <p:nvPr/>
        </p:nvSpPr>
        <p:spPr>
          <a:xfrm>
            <a:off x="304800" y="1041400"/>
            <a:ext cx="2286000" cy="50800"/>
          </a:xfrm>
          <a:prstGeom prst="rect">
            <a:avLst/>
          </a:prstGeom>
          <a:solidFill>
            <a:srgbClr val="E4AA4A"/>
          </a:solidFill>
          <a:ln w="0">
            <a:solidFill>
              <a:srgbClr val="E4A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ABEF38-E595-32B3-2606-D62FFEB31C32}"/>
              </a:ext>
            </a:extLst>
          </p:cNvPr>
          <p:cNvSpPr txBox="1"/>
          <p:nvPr/>
        </p:nvSpPr>
        <p:spPr>
          <a:xfrm>
            <a:off x="508000" y="330200"/>
            <a:ext cx="78740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수정 흐름 요약 타임라인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45976-DF90-DFFC-1C44-BD7199CA7097}"/>
              </a:ext>
            </a:extLst>
          </p:cNvPr>
          <p:cNvSpPr txBox="1"/>
          <p:nvPr/>
        </p:nvSpPr>
        <p:spPr>
          <a:xfrm>
            <a:off x="508000" y="698500"/>
            <a:ext cx="9398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100">
                <a:solidFill>
                  <a:srgbClr val="D2DDEE"/>
                </a:solidFill>
                <a:latin typeface="Malgun Gothic" panose="020B0503020000020004" pitchFamily="50" charset="-127"/>
              </a:rPr>
              <a:t>03-15</a:t>
            </a:r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부터 </a:t>
            </a:r>
            <a:r>
              <a:rPr lang="en-US" altLang="ko-KR" sz="1100">
                <a:solidFill>
                  <a:srgbClr val="D2DDEE"/>
                </a:solidFill>
                <a:latin typeface="Malgun Gothic" panose="020B0503020000020004" pitchFamily="50" charset="-127"/>
              </a:rPr>
              <a:t>03-19</a:t>
            </a:r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까지 수정 방향은 점점 더 시스템 구조 쪽으로 이동했다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E87DB4-AB66-D124-4C18-D7F12F0B255C}"/>
              </a:ext>
            </a:extLst>
          </p:cNvPr>
          <p:cNvSpPr/>
          <p:nvPr/>
        </p:nvSpPr>
        <p:spPr>
          <a:xfrm>
            <a:off x="1244600" y="3175000"/>
            <a:ext cx="9499600" cy="762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C59772-B1F5-34A6-24DC-10CBC958E558}"/>
              </a:ext>
            </a:extLst>
          </p:cNvPr>
          <p:cNvSpPr/>
          <p:nvPr/>
        </p:nvSpPr>
        <p:spPr>
          <a:xfrm>
            <a:off x="1219200" y="2997200"/>
            <a:ext cx="228600" cy="4318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51249-0B09-1F3D-5C6D-EF260DA153F1}"/>
              </a:ext>
            </a:extLst>
          </p:cNvPr>
          <p:cNvSpPr txBox="1"/>
          <p:nvPr/>
        </p:nvSpPr>
        <p:spPr>
          <a:xfrm>
            <a:off x="1066800" y="2489200"/>
            <a:ext cx="1016000" cy="4154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03-15</a:t>
            </a:r>
            <a:endParaRPr lang="ko-KR" altLang="en-US" sz="1700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B181B62-B49B-FE32-0AD6-837CED105AAD}"/>
              </a:ext>
            </a:extLst>
          </p:cNvPr>
          <p:cNvSpPr/>
          <p:nvPr/>
        </p:nvSpPr>
        <p:spPr>
          <a:xfrm>
            <a:off x="660400" y="3708400"/>
            <a:ext cx="1498600" cy="195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54F058-E152-08D9-E39F-44C958F05E63}"/>
              </a:ext>
            </a:extLst>
          </p:cNvPr>
          <p:cNvSpPr txBox="1"/>
          <p:nvPr/>
        </p:nvSpPr>
        <p:spPr>
          <a:xfrm>
            <a:off x="787400" y="3886200"/>
            <a:ext cx="1270000" cy="67710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관측 가능성 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F7E0B2-9474-20B3-5E92-816BF23EA10F}"/>
              </a:ext>
            </a:extLst>
          </p:cNvPr>
          <p:cNvSpPr txBox="1"/>
          <p:nvPr/>
        </p:nvSpPr>
        <p:spPr>
          <a:xfrm>
            <a:off x="762000" y="4318000"/>
            <a:ext cx="1295400" cy="135421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requirements 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정리</a:t>
            </a:r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\ncfg 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응답 로그</a:t>
            </a:r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\nType1 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누락 </a:t>
            </a:r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fail\n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에러 로그 체계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66D90FA-03C3-02FB-2FAD-F885A9374E02}"/>
              </a:ext>
            </a:extLst>
          </p:cNvPr>
          <p:cNvSpPr/>
          <p:nvPr/>
        </p:nvSpPr>
        <p:spPr>
          <a:xfrm>
            <a:off x="3175000" y="2997200"/>
            <a:ext cx="228600" cy="4318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920F0C-2D9D-4144-A7A7-1A24B70131A2}"/>
              </a:ext>
            </a:extLst>
          </p:cNvPr>
          <p:cNvSpPr txBox="1"/>
          <p:nvPr/>
        </p:nvSpPr>
        <p:spPr>
          <a:xfrm>
            <a:off x="3022600" y="2489200"/>
            <a:ext cx="1016000" cy="67710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03-18 </a:t>
            </a:r>
            <a:r>
              <a:rPr lang="ko-KR" altLang="en-US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초반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54B8DA3-C015-BE94-AA48-E7774E88141D}"/>
              </a:ext>
            </a:extLst>
          </p:cNvPr>
          <p:cNvSpPr/>
          <p:nvPr/>
        </p:nvSpPr>
        <p:spPr>
          <a:xfrm>
            <a:off x="2616200" y="3708400"/>
            <a:ext cx="1498600" cy="195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69CFDA-CE94-DD12-233E-1E1A7A2408F6}"/>
              </a:ext>
            </a:extLst>
          </p:cNvPr>
          <p:cNvSpPr txBox="1"/>
          <p:nvPr/>
        </p:nvSpPr>
        <p:spPr>
          <a:xfrm>
            <a:off x="2743200" y="3886200"/>
            <a:ext cx="1270000" cy="67710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필터</a:t>
            </a:r>
            <a:r>
              <a:rPr lang="en-US" altLang="ko-KR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게이트 튜닝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EDD114-B6C2-7823-52CB-2AD50B09775A}"/>
              </a:ext>
            </a:extLst>
          </p:cNvPr>
          <p:cNvSpPr txBox="1"/>
          <p:nvPr/>
        </p:nvSpPr>
        <p:spPr>
          <a:xfrm>
            <a:off x="2717800" y="4318000"/>
            <a:ext cx="12954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keepout 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축소</a:t>
            </a:r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\nmax_range 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추가</a:t>
            </a:r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\nz gate 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조정</a:t>
            </a:r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\n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튜닝 표 정리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0F74CF-1123-0E16-0AEC-459431EE052D}"/>
              </a:ext>
            </a:extLst>
          </p:cNvPr>
          <p:cNvSpPr/>
          <p:nvPr/>
        </p:nvSpPr>
        <p:spPr>
          <a:xfrm>
            <a:off x="5143500" y="2997200"/>
            <a:ext cx="228600" cy="4318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2AD108-AFC3-F54A-7850-1439DA7065FA}"/>
              </a:ext>
            </a:extLst>
          </p:cNvPr>
          <p:cNvSpPr txBox="1"/>
          <p:nvPr/>
        </p:nvSpPr>
        <p:spPr>
          <a:xfrm>
            <a:off x="4991100" y="2489200"/>
            <a:ext cx="1016000" cy="67710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03-18 </a:t>
            </a:r>
            <a:r>
              <a:rPr lang="ko-KR" altLang="en-US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오후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9BBAFD6-78C7-77C7-13AA-5A76A69EF693}"/>
              </a:ext>
            </a:extLst>
          </p:cNvPr>
          <p:cNvSpPr/>
          <p:nvPr/>
        </p:nvSpPr>
        <p:spPr>
          <a:xfrm>
            <a:off x="4584700" y="3708400"/>
            <a:ext cx="1498600" cy="195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8CBEA4-09E5-F1E1-5DB6-2260F2290804}"/>
              </a:ext>
            </a:extLst>
          </p:cNvPr>
          <p:cNvSpPr txBox="1"/>
          <p:nvPr/>
        </p:nvSpPr>
        <p:spPr>
          <a:xfrm>
            <a:off x="4711700" y="3886200"/>
            <a:ext cx="1270000" cy="4154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구조 분리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FE3824-AC2E-F04A-0020-0B8A0BFCFB72}"/>
              </a:ext>
            </a:extLst>
          </p:cNvPr>
          <p:cNvSpPr txBox="1"/>
          <p:nvPr/>
        </p:nvSpPr>
        <p:spPr>
          <a:xfrm>
            <a:off x="4686300" y="4318000"/>
            <a:ext cx="12954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runtime_pipeline 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분리</a:t>
            </a:r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\n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공용 </a:t>
            </a:r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params 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도입</a:t>
            </a:r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\n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문서 동기화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23F72B9-E5CE-378D-A7B9-1162AFCF8D5B}"/>
              </a:ext>
            </a:extLst>
          </p:cNvPr>
          <p:cNvSpPr/>
          <p:nvPr/>
        </p:nvSpPr>
        <p:spPr>
          <a:xfrm>
            <a:off x="7112000" y="2997200"/>
            <a:ext cx="228600" cy="4318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D0A420-9154-D79D-7A85-3BCD1A5BA4B6}"/>
              </a:ext>
            </a:extLst>
          </p:cNvPr>
          <p:cNvSpPr txBox="1"/>
          <p:nvPr/>
        </p:nvSpPr>
        <p:spPr>
          <a:xfrm>
            <a:off x="6959600" y="2489200"/>
            <a:ext cx="1016000" cy="67710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03-18 </a:t>
            </a:r>
            <a:r>
              <a:rPr lang="ko-KR" altLang="en-US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밤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CCD4CC4-F185-BD23-4E2B-D43E4F852863}"/>
              </a:ext>
            </a:extLst>
          </p:cNvPr>
          <p:cNvSpPr/>
          <p:nvPr/>
        </p:nvSpPr>
        <p:spPr>
          <a:xfrm>
            <a:off x="6553200" y="3708400"/>
            <a:ext cx="1498600" cy="195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DD02EF-0685-45FC-6C50-0DBE241340D3}"/>
              </a:ext>
            </a:extLst>
          </p:cNvPr>
          <p:cNvSpPr txBox="1"/>
          <p:nvPr/>
        </p:nvSpPr>
        <p:spPr>
          <a:xfrm>
            <a:off x="6680200" y="3886200"/>
            <a:ext cx="1270000" cy="67710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viewer </a:t>
            </a:r>
            <a:r>
              <a:rPr lang="ko-KR" altLang="en-US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정렬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1F44AB-30F3-F21B-7F38-2A59C65F9593}"/>
              </a:ext>
            </a:extLst>
          </p:cNvPr>
          <p:cNvSpPr txBox="1"/>
          <p:nvPr/>
        </p:nvSpPr>
        <p:spPr>
          <a:xfrm>
            <a:off x="6654800" y="4318000"/>
            <a:ext cx="1295400" cy="135421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shared processing path\ncallback renderer\n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동일 </a:t>
            </a:r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runtime truth 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확보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04172F4-0CBA-BF63-0B4F-C48799BCDD4F}"/>
              </a:ext>
            </a:extLst>
          </p:cNvPr>
          <p:cNvSpPr/>
          <p:nvPr/>
        </p:nvSpPr>
        <p:spPr>
          <a:xfrm>
            <a:off x="9080500" y="2997200"/>
            <a:ext cx="228600" cy="4318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62C1FA-36B0-04EF-94C0-5139A01B88C4}"/>
              </a:ext>
            </a:extLst>
          </p:cNvPr>
          <p:cNvSpPr txBox="1"/>
          <p:nvPr/>
        </p:nvSpPr>
        <p:spPr>
          <a:xfrm>
            <a:off x="8928100" y="2489200"/>
            <a:ext cx="1016000" cy="4154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03-19</a:t>
            </a:r>
            <a:endParaRPr lang="ko-KR" altLang="en-US" sz="1700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094C5FF-F025-875F-9D73-0D994CE8809F}"/>
              </a:ext>
            </a:extLst>
          </p:cNvPr>
          <p:cNvSpPr/>
          <p:nvPr/>
        </p:nvSpPr>
        <p:spPr>
          <a:xfrm>
            <a:off x="8521700" y="3708400"/>
            <a:ext cx="1498600" cy="195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9FE01D-B590-3952-4A06-C7178B84883D}"/>
              </a:ext>
            </a:extLst>
          </p:cNvPr>
          <p:cNvSpPr txBox="1"/>
          <p:nvPr/>
        </p:nvSpPr>
        <p:spPr>
          <a:xfrm>
            <a:off x="8648700" y="3886200"/>
            <a:ext cx="1270000" cy="67710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좌표</a:t>
            </a:r>
            <a:r>
              <a:rPr lang="en-US" altLang="ko-KR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700" b="1">
                <a:solidFill>
                  <a:srgbClr val="172B4D"/>
                </a:solidFill>
                <a:latin typeface="Malgun Gothic" panose="020B0503020000020004" pitchFamily="50" charset="-127"/>
              </a:rPr>
              <a:t>성능 분리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283E26-28A9-AA6F-5EEF-337F168CC3A0}"/>
              </a:ext>
            </a:extLst>
          </p:cNvPr>
          <p:cNvSpPr txBox="1"/>
          <p:nvPr/>
        </p:nvSpPr>
        <p:spPr>
          <a:xfrm>
            <a:off x="8623300" y="4318000"/>
            <a:ext cx="1295400" cy="135421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yaw/pitch/height\nworld 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보정</a:t>
            </a:r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\nworker/draw 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분리</a:t>
            </a:r>
            <a:r>
              <a:rPr lang="en-US" altLang="ko-KR" sz="1300">
                <a:solidFill>
                  <a:srgbClr val="1C242E"/>
                </a:solidFill>
                <a:latin typeface="Malgun Gothic" panose="020B0503020000020004" pitchFamily="50" charset="-127"/>
              </a:rPr>
              <a:t>\n</a:t>
            </a:r>
            <a:r>
              <a:rPr lang="ko-KR" altLang="en-US" sz="1300">
                <a:solidFill>
                  <a:srgbClr val="1C242E"/>
                </a:solidFill>
                <a:latin typeface="Malgun Gothic" panose="020B0503020000020004" pitchFamily="50" charset="-127"/>
              </a:rPr>
              <a:t>자동 리포트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CA43E7-C9DB-0A32-FACC-83CA67AE7454}"/>
              </a:ext>
            </a:extLst>
          </p:cNvPr>
          <p:cNvSpPr txBox="1"/>
          <p:nvPr/>
        </p:nvSpPr>
        <p:spPr>
          <a:xfrm>
            <a:off x="762000" y="6324600"/>
            <a:ext cx="109220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흐름의 변화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알고리즘 튜닝 중심 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-&gt; runtime </a:t>
            </a:r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구조 정합성 확보 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-&gt; </a:t>
            </a:r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설치 좌표 보정과 성능 병목 분리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687544-E7B1-90AD-1ED2-F037CD8594D0}"/>
              </a:ext>
            </a:extLst>
          </p:cNvPr>
          <p:cNvSpPr txBox="1"/>
          <p:nvPr/>
        </p:nvSpPr>
        <p:spPr>
          <a:xfrm>
            <a:off x="457200" y="6680200"/>
            <a:ext cx="38100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fr-FR" altLang="ko-KR" sz="900">
                <a:solidFill>
                  <a:srgbClr val="6F7A8A"/>
                </a:solidFill>
                <a:latin typeface="Malgun Gothic" panose="020B0503020000020004" pitchFamily="50" charset="-127"/>
              </a:rPr>
              <a:t>Source: docs/experiment_journal.md, docs/performance_log.md, docs/correction report/*</a:t>
            </a:r>
            <a:endParaRPr lang="ko-KR" altLang="en-US" sz="9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9A3AFA-DF1B-6658-0C69-04F0C94DB142}"/>
              </a:ext>
            </a:extLst>
          </p:cNvPr>
          <p:cNvSpPr txBox="1"/>
          <p:nvPr/>
        </p:nvSpPr>
        <p:spPr>
          <a:xfrm>
            <a:off x="11099800" y="66802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000">
                <a:solidFill>
                  <a:srgbClr val="6F7A8A"/>
                </a:solidFill>
                <a:latin typeface="Malgun Gothic" panose="020B0503020000020004" pitchFamily="50" charset="-127"/>
              </a:rPr>
              <a:t>4</a:t>
            </a:r>
            <a:endParaRPr lang="ko-KR" altLang="en-US" sz="10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1080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DCCD18F-831C-FEB0-8375-1308AEDA1355}"/>
              </a:ext>
            </a:extLst>
          </p:cNvPr>
          <p:cNvSpPr/>
          <p:nvPr/>
        </p:nvSpPr>
        <p:spPr>
          <a:xfrm>
            <a:off x="304800" y="228600"/>
            <a:ext cx="11582400" cy="8890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34A67F-3AD1-2F2E-0FA5-716E1CE8DF24}"/>
              </a:ext>
            </a:extLst>
          </p:cNvPr>
          <p:cNvSpPr/>
          <p:nvPr/>
        </p:nvSpPr>
        <p:spPr>
          <a:xfrm>
            <a:off x="304800" y="1041400"/>
            <a:ext cx="2286000" cy="50800"/>
          </a:xfrm>
          <a:prstGeom prst="rect">
            <a:avLst/>
          </a:prstGeom>
          <a:solidFill>
            <a:srgbClr val="E4AA4A"/>
          </a:solidFill>
          <a:ln w="0">
            <a:solidFill>
              <a:srgbClr val="E4A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65733-E2DF-D23E-FDB9-EEC775308374}"/>
              </a:ext>
            </a:extLst>
          </p:cNvPr>
          <p:cNvSpPr txBox="1"/>
          <p:nvPr/>
        </p:nvSpPr>
        <p:spPr>
          <a:xfrm>
            <a:off x="508000" y="330200"/>
            <a:ext cx="78740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단계 수정 이유</a:t>
            </a:r>
            <a:r>
              <a:rPr lang="en-US" altLang="ko-KR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실패를 먼저 보이게 만들기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018A25-9ACF-536F-AE38-749041697F71}"/>
              </a:ext>
            </a:extLst>
          </p:cNvPr>
          <p:cNvSpPr txBox="1"/>
          <p:nvPr/>
        </p:nvSpPr>
        <p:spPr>
          <a:xfrm>
            <a:off x="508000" y="698500"/>
            <a:ext cx="9398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“되냐</a:t>
            </a:r>
            <a:r>
              <a:rPr lang="en-US" altLang="ko-KR" sz="1100">
                <a:solidFill>
                  <a:srgbClr val="D2DDEE"/>
                </a:solidFill>
                <a:latin typeface="Malgun Gothic" panose="020B0503020000020004" pitchFamily="50" charset="-127"/>
              </a:rPr>
              <a:t>?”</a:t>
            </a:r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보다 “왜 안 되냐</a:t>
            </a:r>
            <a:r>
              <a:rPr lang="en-US" altLang="ko-KR" sz="1100">
                <a:solidFill>
                  <a:srgbClr val="D2DDEE"/>
                </a:solidFill>
                <a:latin typeface="Malgun Gothic" panose="020B0503020000020004" pitchFamily="50" charset="-127"/>
              </a:rPr>
              <a:t>?”</a:t>
            </a:r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가 바로 보이게 해야 다음 수정이 가능했다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1AFD94-05FC-1AB7-B4CD-FFA181A078C8}"/>
              </a:ext>
            </a:extLst>
          </p:cNvPr>
          <p:cNvSpPr/>
          <p:nvPr/>
        </p:nvSpPr>
        <p:spPr>
          <a:xfrm>
            <a:off x="558800" y="1828800"/>
            <a:ext cx="5689600" cy="414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BF2BF-1198-1A95-9070-09CF5A29E85A}"/>
              </a:ext>
            </a:extLst>
          </p:cNvPr>
          <p:cNvSpPr txBox="1"/>
          <p:nvPr/>
        </p:nvSpPr>
        <p:spPr>
          <a:xfrm>
            <a:off x="762000" y="2082800"/>
            <a:ext cx="52578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300" b="1">
                <a:solidFill>
                  <a:srgbClr val="172B4D"/>
                </a:solidFill>
                <a:latin typeface="Malgun Gothic" panose="020B0503020000020004" pitchFamily="50" charset="-127"/>
              </a:rPr>
              <a:t>실제 수정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5B3548-C96D-8539-26C9-F678DCD4712F}"/>
              </a:ext>
            </a:extLst>
          </p:cNvPr>
          <p:cNvSpPr txBox="1"/>
          <p:nvPr/>
        </p:nvSpPr>
        <p:spPr>
          <a:xfrm>
            <a:off x="736600" y="2641600"/>
            <a:ext cx="5334000" cy="3031599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requirements.txt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최소화 및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import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정리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-&gt;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팀원 환경에서도 실행 가능하게 만듦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cfg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응답 로그 추가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-&gt; bring-up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시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Error / Done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을 즉시 확인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Type1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누락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frame fail -&gt;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잘못된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point cloud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가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downstream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으로 넘어가지 않게 차단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날짜별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error log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correction report -&gt;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실패 원인을 누적 기록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34294C-1C96-991D-5281-734EF215F148}"/>
              </a:ext>
            </a:extLst>
          </p:cNvPr>
          <p:cNvSpPr/>
          <p:nvPr/>
        </p:nvSpPr>
        <p:spPr>
          <a:xfrm>
            <a:off x="6553200" y="1828800"/>
            <a:ext cx="4800600" cy="4140200"/>
          </a:xfrm>
          <a:prstGeom prst="rect">
            <a:avLst/>
          </a:prstGeom>
          <a:solidFill>
            <a:srgbClr val="FFF5DD"/>
          </a:solidFill>
          <a:ln w="15240">
            <a:solidFill>
              <a:srgbClr val="C98C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0E8E7A-B481-0F93-B2B0-251683AFE35B}"/>
              </a:ext>
            </a:extLst>
          </p:cNvPr>
          <p:cNvSpPr txBox="1"/>
          <p:nvPr/>
        </p:nvSpPr>
        <p:spPr>
          <a:xfrm>
            <a:off x="6781800" y="2082800"/>
            <a:ext cx="43688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300" b="1">
                <a:solidFill>
                  <a:srgbClr val="172B4D"/>
                </a:solidFill>
                <a:latin typeface="Malgun Gothic" panose="020B0503020000020004" pitchFamily="50" charset="-127"/>
              </a:rPr>
              <a:t>왜 중요한가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06C6F-CEFA-F499-09FC-28815A93CDD8}"/>
              </a:ext>
            </a:extLst>
          </p:cNvPr>
          <p:cNvSpPr txBox="1"/>
          <p:nvPr/>
        </p:nvSpPr>
        <p:spPr>
          <a:xfrm>
            <a:off x="6756400" y="2641600"/>
            <a:ext cx="4445000" cy="2508379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문제를 “재현 가능한 상태”로 바꾸지 못하면 파라미터 조정도 의미가 없다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레이더 시스템은 정상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비정상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frame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구분 정책이 없으면 성능보다 먼저 신뢰를 잃는다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이 단계가 이후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DBSCAN / tracker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튜닝의 기반이 되었다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363313-063A-C6E5-8FCE-ECCCCF53FD78}"/>
              </a:ext>
            </a:extLst>
          </p:cNvPr>
          <p:cNvSpPr txBox="1"/>
          <p:nvPr/>
        </p:nvSpPr>
        <p:spPr>
          <a:xfrm>
            <a:off x="685800" y="6223000"/>
            <a:ext cx="108458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발표 포인트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이 단계는 라이브러리 사용이 아니라 시스템 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bring-up </a:t>
            </a:r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품질을 올린 작업이다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B2F0A0-0659-C3EE-74F5-EA22F60B9431}"/>
              </a:ext>
            </a:extLst>
          </p:cNvPr>
          <p:cNvSpPr txBox="1"/>
          <p:nvPr/>
        </p:nvSpPr>
        <p:spPr>
          <a:xfrm>
            <a:off x="457200" y="6680200"/>
            <a:ext cx="38100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fr-FR" altLang="ko-KR" sz="900">
                <a:solidFill>
                  <a:srgbClr val="6F7A8A"/>
                </a:solidFill>
                <a:latin typeface="Malgun Gothic" panose="020B0503020000020004" pitchFamily="50" charset="-127"/>
              </a:rPr>
              <a:t>Source: docs/experiment_journal.md, docs/performance_log.md, docs/correction report/*</a:t>
            </a:r>
            <a:endParaRPr lang="ko-KR" altLang="en-US" sz="9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26A747-E14B-61A2-8FE7-342EF2749F14}"/>
              </a:ext>
            </a:extLst>
          </p:cNvPr>
          <p:cNvSpPr txBox="1"/>
          <p:nvPr/>
        </p:nvSpPr>
        <p:spPr>
          <a:xfrm>
            <a:off x="11099800" y="66802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000">
                <a:solidFill>
                  <a:srgbClr val="6F7A8A"/>
                </a:solidFill>
                <a:latin typeface="Malgun Gothic" panose="020B0503020000020004" pitchFamily="50" charset="-127"/>
              </a:rPr>
              <a:t>5</a:t>
            </a:r>
            <a:endParaRPr lang="ko-KR" altLang="en-US" sz="10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8902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B0CC415-FD96-36B3-0083-EAF88229A90A}"/>
              </a:ext>
            </a:extLst>
          </p:cNvPr>
          <p:cNvSpPr/>
          <p:nvPr/>
        </p:nvSpPr>
        <p:spPr>
          <a:xfrm>
            <a:off x="304800" y="228600"/>
            <a:ext cx="11582400" cy="8890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5458E5-8E33-6F6A-E6EB-E2B9820917DA}"/>
              </a:ext>
            </a:extLst>
          </p:cNvPr>
          <p:cNvSpPr/>
          <p:nvPr/>
        </p:nvSpPr>
        <p:spPr>
          <a:xfrm>
            <a:off x="304800" y="1041400"/>
            <a:ext cx="2286000" cy="50800"/>
          </a:xfrm>
          <a:prstGeom prst="rect">
            <a:avLst/>
          </a:prstGeom>
          <a:solidFill>
            <a:srgbClr val="E4AA4A"/>
          </a:solidFill>
          <a:ln w="0">
            <a:solidFill>
              <a:srgbClr val="E4A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185F8D-8784-D30A-34B2-AA89E2B86164}"/>
              </a:ext>
            </a:extLst>
          </p:cNvPr>
          <p:cNvSpPr txBox="1"/>
          <p:nvPr/>
        </p:nvSpPr>
        <p:spPr>
          <a:xfrm>
            <a:off x="508000" y="330200"/>
            <a:ext cx="7874000" cy="101566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단계 수정 이유</a:t>
            </a:r>
            <a:r>
              <a:rPr lang="en-US" altLang="ko-KR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: viewer</a:t>
            </a:r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를 믿을 수 있어야 튜닝도 믿을 수 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102FFD-77E5-D684-72D8-803031FFF9A6}"/>
              </a:ext>
            </a:extLst>
          </p:cNvPr>
          <p:cNvSpPr txBox="1"/>
          <p:nvPr/>
        </p:nvSpPr>
        <p:spPr>
          <a:xfrm>
            <a:off x="508000" y="698500"/>
            <a:ext cx="9398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화면이 </a:t>
            </a:r>
            <a:r>
              <a:rPr lang="en-US" altLang="ko-KR" sz="1100">
                <a:solidFill>
                  <a:srgbClr val="D2DDEE"/>
                </a:solidFill>
                <a:latin typeface="Malgun Gothic" panose="020B0503020000020004" pitchFamily="50" charset="-127"/>
              </a:rPr>
              <a:t>runtime truth</a:t>
            </a:r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와 다르면 잘못된 결론으로 튜닝하게 된다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512E52-0DCB-B610-B94E-2655D4A0F142}"/>
              </a:ext>
            </a:extLst>
          </p:cNvPr>
          <p:cNvSpPr/>
          <p:nvPr/>
        </p:nvSpPr>
        <p:spPr>
          <a:xfrm>
            <a:off x="558800" y="1905000"/>
            <a:ext cx="3632200" cy="4038600"/>
          </a:xfrm>
          <a:prstGeom prst="rect">
            <a:avLst/>
          </a:prstGeom>
          <a:solidFill>
            <a:srgbClr val="FCEBE9"/>
          </a:solidFill>
          <a:ln w="15240">
            <a:solidFill>
              <a:srgbClr val="C678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7234FB-907C-9BF8-183C-CED4E98901BF}"/>
              </a:ext>
            </a:extLst>
          </p:cNvPr>
          <p:cNvSpPr txBox="1"/>
          <p:nvPr/>
        </p:nvSpPr>
        <p:spPr>
          <a:xfrm>
            <a:off x="762000" y="2159000"/>
            <a:ext cx="3200400" cy="4924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Before</a:t>
            </a:r>
            <a:endParaRPr lang="ko-KR" altLang="en-US" sz="2200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76C754-8DB7-3E2A-70DA-14F0D9AF4B88}"/>
              </a:ext>
            </a:extLst>
          </p:cNvPr>
          <p:cNvSpPr txBox="1"/>
          <p:nvPr/>
        </p:nvSpPr>
        <p:spPr>
          <a:xfrm>
            <a:off x="736600" y="2692400"/>
            <a:ext cx="3276600" cy="286232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viewer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runtime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의 처리 경로가 완전히 같다고 보장하기 어려웠다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사람이 안 보이는 원인이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tracker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인지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filter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인지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parser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인지 분리하기 어려웠다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단순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scatter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로는 앞뒤 이동과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split track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이 직관적으로 안 보였다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9B2ECC-06E1-E298-41E4-C11A9FC7A5B9}"/>
              </a:ext>
            </a:extLst>
          </p:cNvPr>
          <p:cNvSpPr/>
          <p:nvPr/>
        </p:nvSpPr>
        <p:spPr>
          <a:xfrm>
            <a:off x="4495800" y="1905000"/>
            <a:ext cx="3632200" cy="4038600"/>
          </a:xfrm>
          <a:prstGeom prst="rect">
            <a:avLst/>
          </a:prstGeom>
          <a:solidFill>
            <a:srgbClr val="E6F5F0"/>
          </a:solidFill>
          <a:ln w="15240">
            <a:solidFill>
              <a:srgbClr val="2B6E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A2B356-0C1F-34AB-E2B7-1BBF3163EF34}"/>
              </a:ext>
            </a:extLst>
          </p:cNvPr>
          <p:cNvSpPr txBox="1"/>
          <p:nvPr/>
        </p:nvSpPr>
        <p:spPr>
          <a:xfrm>
            <a:off x="4699000" y="2159000"/>
            <a:ext cx="3200400" cy="4924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Change</a:t>
            </a:r>
            <a:endParaRPr lang="ko-KR" altLang="en-US" sz="2200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37F42B-2297-7B69-B4A5-0161E25792F7}"/>
              </a:ext>
            </a:extLst>
          </p:cNvPr>
          <p:cNvSpPr txBox="1"/>
          <p:nvPr/>
        </p:nvSpPr>
        <p:spPr>
          <a:xfrm>
            <a:off x="4673600" y="2692400"/>
            <a:ext cx="3276600" cy="236988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motion cloud, trail, velocity arrow, status overlay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추가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shared processing path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로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raw/filter/cluster/track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계산을 통합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최종적으로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runtime loop callback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기반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renderer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로 재구성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BFC7C6-8E8D-35D1-23F6-69B969E41C56}"/>
              </a:ext>
            </a:extLst>
          </p:cNvPr>
          <p:cNvSpPr/>
          <p:nvPr/>
        </p:nvSpPr>
        <p:spPr>
          <a:xfrm>
            <a:off x="8432800" y="1905000"/>
            <a:ext cx="2921000" cy="4038600"/>
          </a:xfrm>
          <a:prstGeom prst="rect">
            <a:avLst/>
          </a:prstGeom>
          <a:solidFill>
            <a:srgbClr val="E8F1FC"/>
          </a:solidFill>
          <a:ln w="15240">
            <a:solidFill>
              <a:srgbClr val="2A73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3DE5B8-5396-C926-834F-6AC52AE00E1D}"/>
              </a:ext>
            </a:extLst>
          </p:cNvPr>
          <p:cNvSpPr txBox="1"/>
          <p:nvPr/>
        </p:nvSpPr>
        <p:spPr>
          <a:xfrm>
            <a:off x="8636000" y="2159000"/>
            <a:ext cx="2489200" cy="4924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Result</a:t>
            </a:r>
            <a:endParaRPr lang="ko-KR" altLang="en-US" sz="2200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82E627-2751-9670-EB0D-4F6963F6C6C8}"/>
              </a:ext>
            </a:extLst>
          </p:cNvPr>
          <p:cNvSpPr txBox="1"/>
          <p:nvPr/>
        </p:nvSpPr>
        <p:spPr>
          <a:xfrm>
            <a:off x="8610600" y="2692400"/>
            <a:ext cx="2565400" cy="236988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화면과 로그를 같은 근거로 비교 가능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continuity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약화의 원인이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range/ROI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인지 더 분리 가능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시연용 가독성과 디버깅용 신뢰성을 동시에 확보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1DE2C3-C21C-A5E2-CEC3-2BDBDCE5353E}"/>
              </a:ext>
            </a:extLst>
          </p:cNvPr>
          <p:cNvSpPr txBox="1"/>
          <p:nvPr/>
        </p:nvSpPr>
        <p:spPr>
          <a:xfrm>
            <a:off x="457200" y="6680200"/>
            <a:ext cx="38100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fr-FR" altLang="ko-KR" sz="900">
                <a:solidFill>
                  <a:srgbClr val="6F7A8A"/>
                </a:solidFill>
                <a:latin typeface="Malgun Gothic" panose="020B0503020000020004" pitchFamily="50" charset="-127"/>
              </a:rPr>
              <a:t>Source: docs/experiment_journal.md, docs/performance_log.md, docs/correction report/*</a:t>
            </a:r>
            <a:endParaRPr lang="ko-KR" altLang="en-US" sz="9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8838F1-1781-5EBD-4E4F-91C126E4C151}"/>
              </a:ext>
            </a:extLst>
          </p:cNvPr>
          <p:cNvSpPr txBox="1"/>
          <p:nvPr/>
        </p:nvSpPr>
        <p:spPr>
          <a:xfrm>
            <a:off x="11099800" y="66802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000">
                <a:solidFill>
                  <a:srgbClr val="6F7A8A"/>
                </a:solidFill>
                <a:latin typeface="Malgun Gothic" panose="020B0503020000020004" pitchFamily="50" charset="-127"/>
              </a:rPr>
              <a:t>6</a:t>
            </a:r>
            <a:endParaRPr lang="ko-KR" altLang="en-US" sz="10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600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7D609B1-46DD-AD70-82DD-7DCE79B80E3E}"/>
              </a:ext>
            </a:extLst>
          </p:cNvPr>
          <p:cNvSpPr/>
          <p:nvPr/>
        </p:nvSpPr>
        <p:spPr>
          <a:xfrm>
            <a:off x="304800" y="228600"/>
            <a:ext cx="11582400" cy="8890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DBA70A0-82BC-B6F7-6731-84B84809471B}"/>
              </a:ext>
            </a:extLst>
          </p:cNvPr>
          <p:cNvSpPr/>
          <p:nvPr/>
        </p:nvSpPr>
        <p:spPr>
          <a:xfrm>
            <a:off x="304800" y="1041400"/>
            <a:ext cx="2286000" cy="50800"/>
          </a:xfrm>
          <a:prstGeom prst="rect">
            <a:avLst/>
          </a:prstGeom>
          <a:solidFill>
            <a:srgbClr val="E4AA4A"/>
          </a:solidFill>
          <a:ln w="0">
            <a:solidFill>
              <a:srgbClr val="E4A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8C8C0-977C-6F52-CF14-F44C27D15135}"/>
              </a:ext>
            </a:extLst>
          </p:cNvPr>
          <p:cNvSpPr txBox="1"/>
          <p:nvPr/>
        </p:nvSpPr>
        <p:spPr>
          <a:xfrm>
            <a:off x="508000" y="330200"/>
            <a:ext cx="7874000" cy="101566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단계 수정 이유</a:t>
            </a:r>
            <a:r>
              <a:rPr lang="en-US" altLang="ko-KR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설치 자세와 </a:t>
            </a:r>
            <a:r>
              <a:rPr lang="en-US" altLang="ko-KR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draw stall</a:t>
            </a:r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이 실제 성능을 왜곡했다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722EC-1F8B-E276-FA7E-66D66665162F}"/>
              </a:ext>
            </a:extLst>
          </p:cNvPr>
          <p:cNvSpPr txBox="1"/>
          <p:nvPr/>
        </p:nvSpPr>
        <p:spPr>
          <a:xfrm>
            <a:off x="508000" y="698500"/>
            <a:ext cx="9398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실내 환경에서는 좌표계와 렌더링 구조를 함께 보정해야 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D87F0E-9799-7BBB-594C-CA75EB932703}"/>
              </a:ext>
            </a:extLst>
          </p:cNvPr>
          <p:cNvSpPr/>
          <p:nvPr/>
        </p:nvSpPr>
        <p:spPr>
          <a:xfrm>
            <a:off x="533400" y="1905000"/>
            <a:ext cx="5334000" cy="403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33FE84-62FF-C5BA-2519-DE960E4D99B8}"/>
              </a:ext>
            </a:extLst>
          </p:cNvPr>
          <p:cNvSpPr txBox="1"/>
          <p:nvPr/>
        </p:nvSpPr>
        <p:spPr>
          <a:xfrm>
            <a:off x="736600" y="2159000"/>
            <a:ext cx="49276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300" b="1">
                <a:solidFill>
                  <a:srgbClr val="172B4D"/>
                </a:solidFill>
                <a:latin typeface="Malgun Gothic" panose="020B0503020000020004" pitchFamily="50" charset="-127"/>
              </a:rPr>
              <a:t>좌표계 보정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BCA793-04CA-464B-1095-06599D5B51BE}"/>
              </a:ext>
            </a:extLst>
          </p:cNvPr>
          <p:cNvSpPr txBox="1"/>
          <p:nvPr/>
        </p:nvSpPr>
        <p:spPr>
          <a:xfrm>
            <a:off x="711200" y="2692400"/>
            <a:ext cx="5003800" cy="2769989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sensor_yaw_deg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노출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-&gt;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축 비틀림 원인 분리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sensor_pitch_deg, sensor_height_m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추가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-&gt; world coordinate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보정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설치값 기준으로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filter, cluster, viewer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가 같은 좌표계를 보도록 정리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“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대각선으로 보이는 이동”이 사람 분할인지 설치 자세인지 구분 가능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E19D18-7D86-09AC-7195-A5D12C78EC7A}"/>
              </a:ext>
            </a:extLst>
          </p:cNvPr>
          <p:cNvSpPr/>
          <p:nvPr/>
        </p:nvSpPr>
        <p:spPr>
          <a:xfrm>
            <a:off x="6172200" y="1905000"/>
            <a:ext cx="5207000" cy="403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281693-1C6A-F051-D69C-5DFDAFD8706F}"/>
              </a:ext>
            </a:extLst>
          </p:cNvPr>
          <p:cNvSpPr txBox="1"/>
          <p:nvPr/>
        </p:nvSpPr>
        <p:spPr>
          <a:xfrm>
            <a:off x="6375400" y="2159000"/>
            <a:ext cx="48006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300" b="1">
                <a:solidFill>
                  <a:srgbClr val="172B4D"/>
                </a:solidFill>
                <a:latin typeface="Malgun Gothic" panose="020B0503020000020004" pitchFamily="50" charset="-127"/>
              </a:rPr>
              <a:t>성능 병목 분리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503773-FF40-523D-963D-852D3B906D4F}"/>
              </a:ext>
            </a:extLst>
          </p:cNvPr>
          <p:cNvSpPr txBox="1"/>
          <p:nvPr/>
        </p:nvSpPr>
        <p:spPr>
          <a:xfrm>
            <a:off x="6350000" y="2692400"/>
            <a:ext cx="4876800" cy="2246769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viewer read/process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draw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를 분리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-&gt; Matplotlib stall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이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parser/control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을 막지 않게 함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disable-text-log, disable-overview-png -&gt; logging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병목과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draw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병목을 따로 측정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최신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snapshot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만 그리는 구조로 체감 지연을 완화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C9B35-EA0A-8245-2562-4A84A2942510}"/>
              </a:ext>
            </a:extLst>
          </p:cNvPr>
          <p:cNvSpPr txBox="1"/>
          <p:nvPr/>
        </p:nvSpPr>
        <p:spPr>
          <a:xfrm>
            <a:off x="685800" y="6248400"/>
            <a:ext cx="10744200" cy="70788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핵심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: “</a:t>
            </a:r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느리다”는 결과만 보면 안 되고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, draw / logging / UART continuity </a:t>
            </a:r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중 어디가 병목인지 분리해서 봐야 했다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EC8F99-7FB1-A751-BE3B-93715BD70DEE}"/>
              </a:ext>
            </a:extLst>
          </p:cNvPr>
          <p:cNvSpPr txBox="1"/>
          <p:nvPr/>
        </p:nvSpPr>
        <p:spPr>
          <a:xfrm>
            <a:off x="457200" y="6680200"/>
            <a:ext cx="38100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fr-FR" altLang="ko-KR" sz="900">
                <a:solidFill>
                  <a:srgbClr val="6F7A8A"/>
                </a:solidFill>
                <a:latin typeface="Malgun Gothic" panose="020B0503020000020004" pitchFamily="50" charset="-127"/>
              </a:rPr>
              <a:t>Source: docs/experiment_journal.md, docs/performance_log.md, docs/correction report/*</a:t>
            </a:r>
            <a:endParaRPr lang="ko-KR" altLang="en-US" sz="9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69F754-7B3C-8DC7-AB2E-184A09A3174E}"/>
              </a:ext>
            </a:extLst>
          </p:cNvPr>
          <p:cNvSpPr txBox="1"/>
          <p:nvPr/>
        </p:nvSpPr>
        <p:spPr>
          <a:xfrm>
            <a:off x="11099800" y="66802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000">
                <a:solidFill>
                  <a:srgbClr val="6F7A8A"/>
                </a:solidFill>
                <a:latin typeface="Malgun Gothic" panose="020B0503020000020004" pitchFamily="50" charset="-127"/>
              </a:rPr>
              <a:t>7</a:t>
            </a:r>
            <a:endParaRPr lang="ko-KR" altLang="en-US" sz="10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353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64CAB0C-9E4C-3413-1106-DE81203260CF}"/>
              </a:ext>
            </a:extLst>
          </p:cNvPr>
          <p:cNvSpPr/>
          <p:nvPr/>
        </p:nvSpPr>
        <p:spPr>
          <a:xfrm>
            <a:off x="304800" y="228600"/>
            <a:ext cx="11582400" cy="8890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B4410C-2E5D-AFA3-0191-CF2EECEF966D}"/>
              </a:ext>
            </a:extLst>
          </p:cNvPr>
          <p:cNvSpPr/>
          <p:nvPr/>
        </p:nvSpPr>
        <p:spPr>
          <a:xfrm>
            <a:off x="304800" y="1041400"/>
            <a:ext cx="2286000" cy="50800"/>
          </a:xfrm>
          <a:prstGeom prst="rect">
            <a:avLst/>
          </a:prstGeom>
          <a:solidFill>
            <a:srgbClr val="E4AA4A"/>
          </a:solidFill>
          <a:ln w="0">
            <a:solidFill>
              <a:srgbClr val="E4A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1B0C17-F418-A8CA-DE2D-ECB68473CCE1}"/>
              </a:ext>
            </a:extLst>
          </p:cNvPr>
          <p:cNvSpPr txBox="1"/>
          <p:nvPr/>
        </p:nvSpPr>
        <p:spPr>
          <a:xfrm>
            <a:off x="508000" y="330200"/>
            <a:ext cx="78740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로그 근거로 본 개선 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B1A87-8A8D-ED8A-B0D5-20D6D1D361EE}"/>
              </a:ext>
            </a:extLst>
          </p:cNvPr>
          <p:cNvSpPr txBox="1"/>
          <p:nvPr/>
        </p:nvSpPr>
        <p:spPr>
          <a:xfrm>
            <a:off x="508000" y="698500"/>
            <a:ext cx="9398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문제가 사라진 것이 아니라</a:t>
            </a:r>
            <a:r>
              <a:rPr lang="en-US" altLang="ko-KR" sz="1100">
                <a:solidFill>
                  <a:srgbClr val="D2DDEE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어디가 병목인지 점점 더 분리되어 보이게 되었다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38CFD68-5A6A-976E-3164-37724FD37389}"/>
              </a:ext>
            </a:extLst>
          </p:cNvPr>
          <p:cNvSpPr/>
          <p:nvPr/>
        </p:nvSpPr>
        <p:spPr>
          <a:xfrm>
            <a:off x="508000" y="1854200"/>
            <a:ext cx="3530600" cy="2260600"/>
          </a:xfrm>
          <a:prstGeom prst="rect">
            <a:avLst/>
          </a:prstGeom>
          <a:solidFill>
            <a:srgbClr val="FCEBE9"/>
          </a:solidFill>
          <a:ln w="15240">
            <a:solidFill>
              <a:srgbClr val="C678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644B0D-0B08-CF1B-507E-9C43799CCA24}"/>
              </a:ext>
            </a:extLst>
          </p:cNvPr>
          <p:cNvSpPr txBox="1"/>
          <p:nvPr/>
        </p:nvSpPr>
        <p:spPr>
          <a:xfrm>
            <a:off x="711200" y="2057400"/>
            <a:ext cx="3098800" cy="4770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100" b="1">
                <a:solidFill>
                  <a:srgbClr val="172B4D"/>
                </a:solidFill>
                <a:latin typeface="Malgun Gothic" panose="020B0503020000020004" pitchFamily="50" charset="-127"/>
              </a:rPr>
              <a:t>20260315_165830</a:t>
            </a:r>
            <a:endParaRPr lang="ko-KR" altLang="en-US" sz="2100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E691C-A641-41F0-C88F-2FA1F8096150}"/>
              </a:ext>
            </a:extLst>
          </p:cNvPr>
          <p:cNvSpPr txBox="1"/>
          <p:nvPr/>
        </p:nvSpPr>
        <p:spPr>
          <a:xfrm>
            <a:off x="711200" y="2565400"/>
            <a:ext cx="3098800" cy="1846659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200" b="1">
                <a:solidFill>
                  <a:srgbClr val="A0382C"/>
                </a:solidFill>
                <a:latin typeface="Malgun Gothic" panose="020B0503020000020004" pitchFamily="50" charset="-127"/>
              </a:rPr>
              <a:t>FPS 0.158`r`navg pipeline 6311 ms`r`ndropped 115`r`n</a:t>
            </a:r>
            <a:r>
              <a:rPr lang="ko-KR" altLang="en-US" sz="2200" b="1">
                <a:solidFill>
                  <a:srgbClr val="A0382C"/>
                </a:solidFill>
                <a:latin typeface="Malgun Gothic" panose="020B0503020000020004" pitchFamily="50" charset="-127"/>
              </a:rPr>
              <a:t>사실상 </a:t>
            </a:r>
            <a:r>
              <a:rPr lang="en-US" altLang="ko-KR" sz="2200" b="1">
                <a:solidFill>
                  <a:srgbClr val="A0382C"/>
                </a:solidFill>
                <a:latin typeface="Malgun Gothic" panose="020B0503020000020004" pitchFamily="50" charset="-127"/>
              </a:rPr>
              <a:t>unusable</a:t>
            </a:r>
            <a:endParaRPr lang="ko-KR" altLang="en-US" sz="2200" b="1">
              <a:solidFill>
                <a:srgbClr val="A0382C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F243F3-54FA-A02A-A6A4-FC67EE9152B0}"/>
              </a:ext>
            </a:extLst>
          </p:cNvPr>
          <p:cNvSpPr/>
          <p:nvPr/>
        </p:nvSpPr>
        <p:spPr>
          <a:xfrm>
            <a:off x="4318000" y="1854200"/>
            <a:ext cx="3530600" cy="2260600"/>
          </a:xfrm>
          <a:prstGeom prst="rect">
            <a:avLst/>
          </a:prstGeom>
          <a:solidFill>
            <a:srgbClr val="FFF5DD"/>
          </a:solidFill>
          <a:ln w="15240">
            <a:solidFill>
              <a:srgbClr val="C98C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410EFD-00C4-5A5B-E67C-0C37428B84DC}"/>
              </a:ext>
            </a:extLst>
          </p:cNvPr>
          <p:cNvSpPr txBox="1"/>
          <p:nvPr/>
        </p:nvSpPr>
        <p:spPr>
          <a:xfrm>
            <a:off x="4521200" y="2057400"/>
            <a:ext cx="3098800" cy="4770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100" b="1">
                <a:solidFill>
                  <a:srgbClr val="172B4D"/>
                </a:solidFill>
                <a:latin typeface="Malgun Gothic" panose="020B0503020000020004" pitchFamily="50" charset="-127"/>
              </a:rPr>
              <a:t>20260318_024048</a:t>
            </a:r>
            <a:endParaRPr lang="ko-KR" altLang="en-US" sz="2100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7EADF3-E9D6-6FB5-21BF-61DC4B1DDC5D}"/>
              </a:ext>
            </a:extLst>
          </p:cNvPr>
          <p:cNvSpPr txBox="1"/>
          <p:nvPr/>
        </p:nvSpPr>
        <p:spPr>
          <a:xfrm>
            <a:off x="4521200" y="2565400"/>
            <a:ext cx="3098800" cy="138499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000" b="1">
                <a:solidFill>
                  <a:srgbClr val="1C242E"/>
                </a:solidFill>
                <a:latin typeface="Malgun Gothic" panose="020B0503020000020004" pitchFamily="50" charset="-127"/>
              </a:rPr>
              <a:t>FPS 9.36`r`nfilter</a:t>
            </a:r>
            <a:r>
              <a:rPr lang="ko-KR" altLang="en-US" sz="2000" b="1">
                <a:solidFill>
                  <a:srgbClr val="1C242E"/>
                </a:solidFill>
                <a:latin typeface="Malgun Gothic" panose="020B0503020000020004" pitchFamily="50" charset="-127"/>
              </a:rPr>
              <a:t>는 동작</a:t>
            </a:r>
            <a:r>
              <a:rPr lang="en-US" altLang="ko-KR" sz="2000" b="1">
                <a:solidFill>
                  <a:srgbClr val="1C242E"/>
                </a:solidFill>
                <a:latin typeface="Malgun Gothic" panose="020B0503020000020004" pitchFamily="50" charset="-127"/>
              </a:rPr>
              <a:t>`r`nzero-track 145/281`r`ncontinuity </a:t>
            </a:r>
            <a:r>
              <a:rPr lang="ko-KR" altLang="en-US" sz="2000" b="1">
                <a:solidFill>
                  <a:srgbClr val="1C242E"/>
                </a:solidFill>
                <a:latin typeface="Malgun Gothic" panose="020B0503020000020004" pitchFamily="50" charset="-127"/>
              </a:rPr>
              <a:t>약함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7147D89-B00A-14FD-AE26-0AB138B098B3}"/>
              </a:ext>
            </a:extLst>
          </p:cNvPr>
          <p:cNvSpPr/>
          <p:nvPr/>
        </p:nvSpPr>
        <p:spPr>
          <a:xfrm>
            <a:off x="8128000" y="1854200"/>
            <a:ext cx="3530600" cy="2260600"/>
          </a:xfrm>
          <a:prstGeom prst="rect">
            <a:avLst/>
          </a:prstGeom>
          <a:solidFill>
            <a:srgbClr val="E6F5F0"/>
          </a:solidFill>
          <a:ln w="15240">
            <a:solidFill>
              <a:srgbClr val="2B6E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48CB0D-F1ED-B532-54D1-8BC84EF53E9F}"/>
              </a:ext>
            </a:extLst>
          </p:cNvPr>
          <p:cNvSpPr txBox="1"/>
          <p:nvPr/>
        </p:nvSpPr>
        <p:spPr>
          <a:xfrm>
            <a:off x="8331200" y="2057400"/>
            <a:ext cx="3098800" cy="4770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100" b="1">
                <a:solidFill>
                  <a:srgbClr val="172B4D"/>
                </a:solidFill>
                <a:latin typeface="Malgun Gothic" panose="020B0503020000020004" pitchFamily="50" charset="-127"/>
              </a:rPr>
              <a:t>20260319_015812</a:t>
            </a:r>
            <a:endParaRPr lang="ko-KR" altLang="en-US" sz="2100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D49ABD-728B-75BE-1AEF-56793FCDFDD9}"/>
              </a:ext>
            </a:extLst>
          </p:cNvPr>
          <p:cNvSpPr txBox="1"/>
          <p:nvPr/>
        </p:nvSpPr>
        <p:spPr>
          <a:xfrm>
            <a:off x="8331200" y="2565400"/>
            <a:ext cx="3098800" cy="138499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2000" b="1">
                <a:solidFill>
                  <a:srgbClr val="2B6E55"/>
                </a:solidFill>
                <a:latin typeface="Malgun Gothic" panose="020B0503020000020004" pitchFamily="50" charset="-127"/>
              </a:rPr>
              <a:t>FPS 9.87`r`nparser health </a:t>
            </a:r>
            <a:r>
              <a:rPr lang="ko-KR" altLang="en-US" sz="2000" b="1">
                <a:solidFill>
                  <a:srgbClr val="2B6E55"/>
                </a:solidFill>
                <a:latin typeface="Malgun Gothic" panose="020B0503020000020004" pitchFamily="50" charset="-127"/>
              </a:rPr>
              <a:t>개선</a:t>
            </a:r>
            <a:r>
              <a:rPr lang="en-US" altLang="ko-KR" sz="2000" b="1">
                <a:solidFill>
                  <a:srgbClr val="2B6E55"/>
                </a:solidFill>
                <a:latin typeface="Malgun Gothic" panose="020B0503020000020004" pitchFamily="50" charset="-127"/>
              </a:rPr>
              <a:t>`r`nzero-track 27/395`r`n</a:t>
            </a:r>
            <a:r>
              <a:rPr lang="ko-KR" altLang="en-US" sz="2000" b="1">
                <a:solidFill>
                  <a:srgbClr val="2B6E55"/>
                </a:solidFill>
                <a:latin typeface="Malgun Gothic" panose="020B0503020000020004" pitchFamily="50" charset="-127"/>
              </a:rPr>
              <a:t>실사용 가능성 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FE7A0B-268E-C789-1537-C907F3B83061}"/>
              </a:ext>
            </a:extLst>
          </p:cNvPr>
          <p:cNvSpPr/>
          <p:nvPr/>
        </p:nvSpPr>
        <p:spPr>
          <a:xfrm>
            <a:off x="508000" y="4445000"/>
            <a:ext cx="11150600" cy="1752600"/>
          </a:xfrm>
          <a:prstGeom prst="rect">
            <a:avLst/>
          </a:prstGeom>
          <a:solidFill>
            <a:srgbClr val="E8F1FC"/>
          </a:solidFill>
          <a:ln w="15240">
            <a:solidFill>
              <a:srgbClr val="2A73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3005B0-8673-6985-F5CA-B03794881089}"/>
              </a:ext>
            </a:extLst>
          </p:cNvPr>
          <p:cNvSpPr txBox="1"/>
          <p:nvPr/>
        </p:nvSpPr>
        <p:spPr>
          <a:xfrm>
            <a:off x="736600" y="4648200"/>
            <a:ext cx="10718800" cy="4924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최신 상태 해석 </a:t>
            </a:r>
            <a:r>
              <a:rPr lang="en-US" altLang="ko-KR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(20260319_023912)</a:t>
            </a:r>
            <a:endParaRPr lang="ko-KR" altLang="en-US" sz="2200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5E1631-21CF-12FB-C8B5-5F8C3CC31744}"/>
              </a:ext>
            </a:extLst>
          </p:cNvPr>
          <p:cNvSpPr txBox="1"/>
          <p:nvPr/>
        </p:nvSpPr>
        <p:spPr>
          <a:xfrm>
            <a:off x="711200" y="5105400"/>
            <a:ext cx="10769600" cy="138499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Avg FPS 9.915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까지 회복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, parser fail 3 / resync 25 / dropped 5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로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health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는 좋아졌다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하지만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zero-track 183/595, tracks&gt;=2 191/595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로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continuity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split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문제는 남아 있다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즉 지금 남은 문제는 “전체가 안 됨”이 아니라 “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range gate / ROI / split track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최적화”로 좁혀졌다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DBA86D-ABD3-4908-9F8A-1F169490E5A4}"/>
              </a:ext>
            </a:extLst>
          </p:cNvPr>
          <p:cNvSpPr txBox="1"/>
          <p:nvPr/>
        </p:nvSpPr>
        <p:spPr>
          <a:xfrm>
            <a:off x="457200" y="6680200"/>
            <a:ext cx="38100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fr-FR" altLang="ko-KR" sz="900">
                <a:solidFill>
                  <a:srgbClr val="6F7A8A"/>
                </a:solidFill>
                <a:latin typeface="Malgun Gothic" panose="020B0503020000020004" pitchFamily="50" charset="-127"/>
              </a:rPr>
              <a:t>Source: docs/experiment_journal.md, docs/performance_log.md, docs/correction report/*</a:t>
            </a:r>
            <a:endParaRPr lang="ko-KR" altLang="en-US" sz="9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77F0DC-AA93-54FE-5ADE-4A19B36A6460}"/>
              </a:ext>
            </a:extLst>
          </p:cNvPr>
          <p:cNvSpPr txBox="1"/>
          <p:nvPr/>
        </p:nvSpPr>
        <p:spPr>
          <a:xfrm>
            <a:off x="11099800" y="66802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000">
                <a:solidFill>
                  <a:srgbClr val="6F7A8A"/>
                </a:solidFill>
                <a:latin typeface="Malgun Gothic" panose="020B0503020000020004" pitchFamily="50" charset="-127"/>
              </a:rPr>
              <a:t>8</a:t>
            </a:r>
            <a:endParaRPr lang="ko-KR" altLang="en-US" sz="10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7417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651B170-EF1A-B970-58C6-9CFBFE77453A}"/>
              </a:ext>
            </a:extLst>
          </p:cNvPr>
          <p:cNvSpPr/>
          <p:nvPr/>
        </p:nvSpPr>
        <p:spPr>
          <a:xfrm>
            <a:off x="304800" y="228600"/>
            <a:ext cx="11582400" cy="8890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FE868-B234-A0BA-9237-D8DC86CF3368}"/>
              </a:ext>
            </a:extLst>
          </p:cNvPr>
          <p:cNvSpPr/>
          <p:nvPr/>
        </p:nvSpPr>
        <p:spPr>
          <a:xfrm>
            <a:off x="304800" y="1041400"/>
            <a:ext cx="2286000" cy="50800"/>
          </a:xfrm>
          <a:prstGeom prst="rect">
            <a:avLst/>
          </a:prstGeom>
          <a:solidFill>
            <a:srgbClr val="E4AA4A"/>
          </a:solidFill>
          <a:ln w="0">
            <a:solidFill>
              <a:srgbClr val="E4A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C8C07-99A3-E899-9536-7A2FF5368258}"/>
              </a:ext>
            </a:extLst>
          </p:cNvPr>
          <p:cNvSpPr txBox="1"/>
          <p:nvPr/>
        </p:nvSpPr>
        <p:spPr>
          <a:xfrm>
            <a:off x="508000" y="330200"/>
            <a:ext cx="78740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가져온 라이브러리와 직접 기여의 경계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773BB-83C8-AAC4-FB88-5621EA90B6F5}"/>
              </a:ext>
            </a:extLst>
          </p:cNvPr>
          <p:cNvSpPr txBox="1"/>
          <p:nvPr/>
        </p:nvSpPr>
        <p:spPr>
          <a:xfrm>
            <a:off x="508000" y="698500"/>
            <a:ext cx="9398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발표에서는 “무엇을 가져왔고</a:t>
            </a:r>
            <a:r>
              <a:rPr lang="en-US" altLang="ko-KR" sz="1100">
                <a:solidFill>
                  <a:srgbClr val="D2DDEE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그 위에 무엇을 직접 설계했는지”를 분명히 나누는 것이 중요하다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28EC7D-CFDC-FB6B-E966-4E9A8C49CF45}"/>
              </a:ext>
            </a:extLst>
          </p:cNvPr>
          <p:cNvSpPr/>
          <p:nvPr/>
        </p:nvSpPr>
        <p:spPr>
          <a:xfrm>
            <a:off x="558800" y="1905000"/>
            <a:ext cx="5105400" cy="4191000"/>
          </a:xfrm>
          <a:prstGeom prst="rect">
            <a:avLst/>
          </a:prstGeom>
          <a:solidFill>
            <a:srgbClr val="E8F1FC"/>
          </a:solidFill>
          <a:ln w="15240">
            <a:solidFill>
              <a:srgbClr val="2A73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48D24E-92B8-A590-CD05-7E50D1505EB4}"/>
              </a:ext>
            </a:extLst>
          </p:cNvPr>
          <p:cNvSpPr txBox="1"/>
          <p:nvPr/>
        </p:nvSpPr>
        <p:spPr>
          <a:xfrm>
            <a:off x="762000" y="2159000"/>
            <a:ext cx="4699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300" b="1">
                <a:solidFill>
                  <a:srgbClr val="172B4D"/>
                </a:solidFill>
                <a:latin typeface="Malgun Gothic" panose="020B0503020000020004" pitchFamily="50" charset="-127"/>
              </a:rPr>
              <a:t>가져온 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BAA1F2-7E65-866C-A360-D80A988DA60F}"/>
              </a:ext>
            </a:extLst>
          </p:cNvPr>
          <p:cNvSpPr txBox="1"/>
          <p:nvPr/>
        </p:nvSpPr>
        <p:spPr>
          <a:xfrm>
            <a:off x="736600" y="2692400"/>
            <a:ext cx="4749800" cy="209288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>
                <a:solidFill>
                  <a:srgbClr val="1C242E"/>
                </a:solidFill>
                <a:latin typeface="Malgun Gothic" panose="020B0503020000020004" pitchFamily="50" charset="-127"/>
              </a:rPr>
              <a:t>• scikit-learn DBSCAN </a:t>
            </a:r>
            <a:r>
              <a:rPr lang="ko-KR" altLang="en-US">
                <a:solidFill>
                  <a:srgbClr val="1C242E"/>
                </a:solidFill>
                <a:latin typeface="Malgun Gothic" panose="020B0503020000020004" pitchFamily="50" charset="-127"/>
              </a:rPr>
              <a:t>알고리즘 구현</a:t>
            </a:r>
          </a:p>
          <a:p>
            <a:endParaRPr lang="ko-KR" altLang="en-US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>
                <a:solidFill>
                  <a:srgbClr val="1C242E"/>
                </a:solidFill>
                <a:latin typeface="Malgun Gothic" panose="020B0503020000020004" pitchFamily="50" charset="-127"/>
              </a:rPr>
              <a:t>• FilterPy Kalman </a:t>
            </a:r>
            <a:r>
              <a:rPr lang="ko-KR" altLang="en-US">
                <a:solidFill>
                  <a:srgbClr val="1C242E"/>
                </a:solidFill>
                <a:latin typeface="Malgun Gothic" panose="020B0503020000020004" pitchFamily="50" charset="-127"/>
              </a:rPr>
              <a:t>필터 수학 기반</a:t>
            </a:r>
          </a:p>
          <a:p>
            <a:endParaRPr lang="ko-KR" altLang="en-US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>
                <a:solidFill>
                  <a:srgbClr val="1C242E"/>
                </a:solidFill>
                <a:latin typeface="Malgun Gothic" panose="020B0503020000020004" pitchFamily="50" charset="-127"/>
              </a:rPr>
              <a:t>• TI mmWave TLV packet parsing </a:t>
            </a:r>
            <a:r>
              <a:rPr lang="ko-KR" altLang="en-US">
                <a:solidFill>
                  <a:srgbClr val="1C242E"/>
                </a:solidFill>
                <a:latin typeface="Malgun Gothic" panose="020B0503020000020004" pitchFamily="50" charset="-127"/>
              </a:rPr>
              <a:t>아이디어</a:t>
            </a:r>
          </a:p>
          <a:p>
            <a:endParaRPr lang="ko-KR" altLang="en-US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>
                <a:solidFill>
                  <a:srgbClr val="1C242E"/>
                </a:solidFill>
                <a:latin typeface="Malgun Gothic" panose="020B0503020000020004" pitchFamily="50" charset="-127"/>
              </a:rPr>
              <a:t>• Matplotlib </a:t>
            </a:r>
            <a:r>
              <a:rPr lang="ko-KR" altLang="en-US">
                <a:solidFill>
                  <a:srgbClr val="1C242E"/>
                </a:solidFill>
                <a:latin typeface="Malgun Gothic" panose="020B0503020000020004" pitchFamily="50" charset="-127"/>
              </a:rPr>
              <a:t>기반 실시간 시각화 도구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524CEEA-9A01-02AF-C2DD-122CE77E0039}"/>
              </a:ext>
            </a:extLst>
          </p:cNvPr>
          <p:cNvSpPr/>
          <p:nvPr/>
        </p:nvSpPr>
        <p:spPr>
          <a:xfrm>
            <a:off x="5969000" y="1905000"/>
            <a:ext cx="5410200" cy="4191000"/>
          </a:xfrm>
          <a:prstGeom prst="rect">
            <a:avLst/>
          </a:prstGeom>
          <a:solidFill>
            <a:srgbClr val="E6F5F0"/>
          </a:solidFill>
          <a:ln w="15240">
            <a:solidFill>
              <a:srgbClr val="2B6E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85ACEF-5674-02FB-C2B9-57EFC00F88CB}"/>
              </a:ext>
            </a:extLst>
          </p:cNvPr>
          <p:cNvSpPr txBox="1"/>
          <p:nvPr/>
        </p:nvSpPr>
        <p:spPr>
          <a:xfrm>
            <a:off x="6172200" y="2159000"/>
            <a:ext cx="50038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300" b="1">
                <a:solidFill>
                  <a:srgbClr val="172B4D"/>
                </a:solidFill>
                <a:latin typeface="Malgun Gothic" panose="020B0503020000020004" pitchFamily="50" charset="-127"/>
              </a:rPr>
              <a:t>직접 기여한 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9EA63A-5DF1-76F6-CEC4-8BCA325A29C7}"/>
              </a:ext>
            </a:extLst>
          </p:cNvPr>
          <p:cNvSpPr txBox="1"/>
          <p:nvPr/>
        </p:nvSpPr>
        <p:spPr>
          <a:xfrm>
            <a:off x="6146800" y="2692400"/>
            <a:ext cx="5054600" cy="3293209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환경 재현성과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cfg bring-up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체계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parser validity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정책과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health logging</a:t>
            </a:r>
          </a:p>
          <a:p>
            <a:endParaRPr lang="en-US" altLang="ko-KR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shared runtime pipeline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구조와 공용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params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체계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world coordinate correction (yaw/pitch/height)</a:t>
            </a:r>
          </a:p>
          <a:p>
            <a:endParaRPr lang="en-US" altLang="ko-KR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viewer architecture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재설계와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draw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분리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자동 실험 리포트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성능 로그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/ REQ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패키지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55E39F-837A-8400-D042-853B7A03C5C3}"/>
              </a:ext>
            </a:extLst>
          </p:cNvPr>
          <p:cNvSpPr txBox="1"/>
          <p:nvPr/>
        </p:nvSpPr>
        <p:spPr>
          <a:xfrm>
            <a:off x="685800" y="6350000"/>
            <a:ext cx="107950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발표 결론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라이브러리를 “가져왔다”가 아니라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그 위에 신뢰 가능한 레이더 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SW </a:t>
            </a:r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운영 구조를 쌓았다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2DDC13-6E67-41F4-A81D-AE3CFAF59CE1}"/>
              </a:ext>
            </a:extLst>
          </p:cNvPr>
          <p:cNvSpPr txBox="1"/>
          <p:nvPr/>
        </p:nvSpPr>
        <p:spPr>
          <a:xfrm>
            <a:off x="457200" y="6680200"/>
            <a:ext cx="38100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fr-FR" altLang="ko-KR" sz="900">
                <a:solidFill>
                  <a:srgbClr val="6F7A8A"/>
                </a:solidFill>
                <a:latin typeface="Malgun Gothic" panose="020B0503020000020004" pitchFamily="50" charset="-127"/>
              </a:rPr>
              <a:t>Source: docs/experiment_journal.md, docs/performance_log.md, docs/correction report/*</a:t>
            </a:r>
            <a:endParaRPr lang="ko-KR" altLang="en-US" sz="9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AFDFE3-DA41-2F50-834E-A75F293FEEF7}"/>
              </a:ext>
            </a:extLst>
          </p:cNvPr>
          <p:cNvSpPr txBox="1"/>
          <p:nvPr/>
        </p:nvSpPr>
        <p:spPr>
          <a:xfrm>
            <a:off x="11099800" y="66802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000">
                <a:solidFill>
                  <a:srgbClr val="6F7A8A"/>
                </a:solidFill>
                <a:latin typeface="Malgun Gothic" panose="020B0503020000020004" pitchFamily="50" charset="-127"/>
              </a:rPr>
              <a:t>9</a:t>
            </a:r>
            <a:endParaRPr lang="ko-KR" altLang="en-US" sz="10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692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0CE27ED-F51F-F444-D0C0-014CA083E40F}"/>
              </a:ext>
            </a:extLst>
          </p:cNvPr>
          <p:cNvSpPr/>
          <p:nvPr/>
        </p:nvSpPr>
        <p:spPr>
          <a:xfrm>
            <a:off x="304800" y="228600"/>
            <a:ext cx="11582400" cy="8890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ED299C4-70E4-228C-BE39-0644540F9CE4}"/>
              </a:ext>
            </a:extLst>
          </p:cNvPr>
          <p:cNvSpPr/>
          <p:nvPr/>
        </p:nvSpPr>
        <p:spPr>
          <a:xfrm>
            <a:off x="304800" y="1041400"/>
            <a:ext cx="2286000" cy="50800"/>
          </a:xfrm>
          <a:prstGeom prst="rect">
            <a:avLst/>
          </a:prstGeom>
          <a:solidFill>
            <a:srgbClr val="E4AA4A"/>
          </a:solidFill>
          <a:ln w="0">
            <a:solidFill>
              <a:srgbClr val="E4A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3DB31-7E38-7726-D5A3-E2AAE2BDB42E}"/>
              </a:ext>
            </a:extLst>
          </p:cNvPr>
          <p:cNvSpPr txBox="1"/>
          <p:nvPr/>
        </p:nvSpPr>
        <p:spPr>
          <a:xfrm>
            <a:off x="508000" y="330200"/>
            <a:ext cx="78740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현재 상태와 다음 단계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33CEA1-BC69-4486-7296-043C4B7D2EA2}"/>
              </a:ext>
            </a:extLst>
          </p:cNvPr>
          <p:cNvSpPr txBox="1"/>
          <p:nvPr/>
        </p:nvSpPr>
        <p:spPr>
          <a:xfrm>
            <a:off x="508000" y="698500"/>
            <a:ext cx="9398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교수님께는 “무엇이 해결됐고</a:t>
            </a:r>
            <a:r>
              <a:rPr lang="en-US" altLang="ko-KR" sz="1100">
                <a:solidFill>
                  <a:srgbClr val="D2DDEE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무엇이 다음 과제인지”를 명확히 보여주는 편이 좋다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6C64FA-72CE-7065-7DFE-AFF6D1F1194C}"/>
              </a:ext>
            </a:extLst>
          </p:cNvPr>
          <p:cNvSpPr/>
          <p:nvPr/>
        </p:nvSpPr>
        <p:spPr>
          <a:xfrm>
            <a:off x="558800" y="1905000"/>
            <a:ext cx="5105400" cy="4038600"/>
          </a:xfrm>
          <a:prstGeom prst="rect">
            <a:avLst/>
          </a:prstGeom>
          <a:solidFill>
            <a:srgbClr val="E6F5F0"/>
          </a:solidFill>
          <a:ln w="15240">
            <a:solidFill>
              <a:srgbClr val="2B6E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E2D224-9DD5-6787-DA2E-77C4E2FA09F1}"/>
              </a:ext>
            </a:extLst>
          </p:cNvPr>
          <p:cNvSpPr txBox="1"/>
          <p:nvPr/>
        </p:nvSpPr>
        <p:spPr>
          <a:xfrm>
            <a:off x="762000" y="2159000"/>
            <a:ext cx="4699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300" b="1">
                <a:solidFill>
                  <a:srgbClr val="172B4D"/>
                </a:solidFill>
                <a:latin typeface="Malgun Gothic" panose="020B0503020000020004" pitchFamily="50" charset="-127"/>
              </a:rPr>
              <a:t>현재 확보한 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B99064-30E9-AE57-DDDF-AADB62283804}"/>
              </a:ext>
            </a:extLst>
          </p:cNvPr>
          <p:cNvSpPr txBox="1"/>
          <p:nvPr/>
        </p:nvSpPr>
        <p:spPr>
          <a:xfrm>
            <a:off x="736600" y="2692400"/>
            <a:ext cx="4749800" cy="3031599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shared runtime pipeline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과 공용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parameter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구조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viewer/runtime truth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정렬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yaw/pitch/height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기반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world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보정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worker/draw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분리와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logging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옵션 분리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자동 실험 리포트와 성능 로그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, REQ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문서 패키지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C6DF38-5079-D2F2-9FEA-F96279168BFD}"/>
              </a:ext>
            </a:extLst>
          </p:cNvPr>
          <p:cNvSpPr/>
          <p:nvPr/>
        </p:nvSpPr>
        <p:spPr>
          <a:xfrm>
            <a:off x="5969000" y="1905000"/>
            <a:ext cx="5410200" cy="4038600"/>
          </a:xfrm>
          <a:prstGeom prst="rect">
            <a:avLst/>
          </a:prstGeom>
          <a:solidFill>
            <a:srgbClr val="FFF5DD"/>
          </a:solidFill>
          <a:ln w="15240">
            <a:solidFill>
              <a:srgbClr val="C98C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3B028D-B207-DC2B-7BC4-74ACC0BD069D}"/>
              </a:ext>
            </a:extLst>
          </p:cNvPr>
          <p:cNvSpPr txBox="1"/>
          <p:nvPr/>
        </p:nvSpPr>
        <p:spPr>
          <a:xfrm>
            <a:off x="6172200" y="2159000"/>
            <a:ext cx="50038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300" b="1">
                <a:solidFill>
                  <a:srgbClr val="172B4D"/>
                </a:solidFill>
                <a:latin typeface="Malgun Gothic" panose="020B0503020000020004" pitchFamily="50" charset="-127"/>
              </a:rPr>
              <a:t>다음 단계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5C6E66-7613-4CBF-5ED7-A49B094BAAB4}"/>
              </a:ext>
            </a:extLst>
          </p:cNvPr>
          <p:cNvSpPr txBox="1"/>
          <p:nvPr/>
        </p:nvSpPr>
        <p:spPr>
          <a:xfrm>
            <a:off x="6146800" y="2692400"/>
            <a:ext cx="5054600" cy="2769989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health gate: stale / malformed / dropped burst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시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fail-safe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정책 명확화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max / p95 latency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를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summary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에 추가해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worst-case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관점 확보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EMPTY_SCENE vs SENSOR_UNHEALTHY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분리</a:t>
            </a:r>
          </a:p>
          <a:p>
            <a:endParaRPr lang="ko-KR" altLang="en-US" sz="17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• RTOS task / queue / WCET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관점의 </a:t>
            </a:r>
            <a:r>
              <a:rPr lang="en-US" altLang="ko-KR" sz="1700">
                <a:solidFill>
                  <a:srgbClr val="1C242E"/>
                </a:solidFill>
                <a:latin typeface="Malgun Gothic" panose="020B0503020000020004" pitchFamily="50" charset="-127"/>
              </a:rPr>
              <a:t>reference skeleton </a:t>
            </a:r>
            <a:r>
              <a:rPr lang="ko-KR" altLang="en-US" sz="1700">
                <a:solidFill>
                  <a:srgbClr val="1C242E"/>
                </a:solidFill>
                <a:latin typeface="Malgun Gothic" panose="020B0503020000020004" pitchFamily="50" charset="-127"/>
              </a:rPr>
              <a:t>구체화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CF94D-10F7-F896-0416-6E221BEEEB5C}"/>
              </a:ext>
            </a:extLst>
          </p:cNvPr>
          <p:cNvSpPr txBox="1"/>
          <p:nvPr/>
        </p:nvSpPr>
        <p:spPr>
          <a:xfrm>
            <a:off x="685800" y="6273800"/>
            <a:ext cx="10871200" cy="70788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마지막 메시지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: “</a:t>
            </a:r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수정이 많았던 이유”는 라이브러리가 부족해서가 아니라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72B4D"/>
                </a:solidFill>
                <a:latin typeface="Malgun Gothic" panose="020B0503020000020004" pitchFamily="50" charset="-127"/>
              </a:rPr>
              <a:t>실제 장비에서 믿을 수 있는 시스템으로 바꾸는 과정이었기 때문이다</a:t>
            </a:r>
            <a:r>
              <a:rPr lang="en-US" altLang="ko-KR" b="1">
                <a:solidFill>
                  <a:srgbClr val="172B4D"/>
                </a:solidFill>
                <a:latin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72B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BB94C5-F3FB-EA39-5CF1-9FFFB5219C57}"/>
              </a:ext>
            </a:extLst>
          </p:cNvPr>
          <p:cNvSpPr txBox="1"/>
          <p:nvPr/>
        </p:nvSpPr>
        <p:spPr>
          <a:xfrm>
            <a:off x="457200" y="6680200"/>
            <a:ext cx="38100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fr-FR" altLang="ko-KR" sz="900">
                <a:solidFill>
                  <a:srgbClr val="6F7A8A"/>
                </a:solidFill>
                <a:latin typeface="Malgun Gothic" panose="020B0503020000020004" pitchFamily="50" charset="-127"/>
              </a:rPr>
              <a:t>Source: docs/experiment_journal.md, docs/performance_log.md, docs/correction report/*</a:t>
            </a:r>
            <a:endParaRPr lang="ko-KR" altLang="en-US" sz="9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F094F8-C4A3-487C-21B2-E1C2FB9737C3}"/>
              </a:ext>
            </a:extLst>
          </p:cNvPr>
          <p:cNvSpPr txBox="1"/>
          <p:nvPr/>
        </p:nvSpPr>
        <p:spPr>
          <a:xfrm>
            <a:off x="11099800" y="66802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000">
                <a:solidFill>
                  <a:srgbClr val="6F7A8A"/>
                </a:solidFill>
                <a:latin typeface="Malgun Gothic" panose="020B0503020000020004" pitchFamily="50" charset="-127"/>
              </a:rPr>
              <a:t>10</a:t>
            </a:r>
            <a:endParaRPr lang="ko-KR" altLang="en-US" sz="10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4876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3A7967-C3B9-2DC9-1B1D-2FF6708DFEFD}"/>
              </a:ext>
            </a:extLst>
          </p:cNvPr>
          <p:cNvSpPr/>
          <p:nvPr/>
        </p:nvSpPr>
        <p:spPr>
          <a:xfrm>
            <a:off x="304800" y="228600"/>
            <a:ext cx="11582400" cy="889000"/>
          </a:xfrm>
          <a:prstGeom prst="rect">
            <a:avLst/>
          </a:prstGeom>
          <a:solidFill>
            <a:srgbClr val="172B4D"/>
          </a:solidFill>
          <a:ln w="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70F668-8FA1-A57C-AC07-783E747FAD8A}"/>
              </a:ext>
            </a:extLst>
          </p:cNvPr>
          <p:cNvSpPr/>
          <p:nvPr/>
        </p:nvSpPr>
        <p:spPr>
          <a:xfrm>
            <a:off x="304800" y="1041400"/>
            <a:ext cx="2286000" cy="50800"/>
          </a:xfrm>
          <a:prstGeom prst="rect">
            <a:avLst/>
          </a:prstGeom>
          <a:solidFill>
            <a:srgbClr val="E4AA4A"/>
          </a:solidFill>
          <a:ln w="0">
            <a:solidFill>
              <a:srgbClr val="E4A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9BB9FB-1B03-3798-4809-00B8864006A6}"/>
              </a:ext>
            </a:extLst>
          </p:cNvPr>
          <p:cNvSpPr txBox="1"/>
          <p:nvPr/>
        </p:nvSpPr>
        <p:spPr>
          <a:xfrm>
            <a:off x="508000" y="330200"/>
            <a:ext cx="78740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</a:rPr>
              <a:t>발표 마무리용 한 페이지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B9E0F3-48AD-797B-C58D-A7F2CD15E6A5}"/>
              </a:ext>
            </a:extLst>
          </p:cNvPr>
          <p:cNvSpPr txBox="1"/>
          <p:nvPr/>
        </p:nvSpPr>
        <p:spPr>
          <a:xfrm>
            <a:off x="508000" y="698500"/>
            <a:ext cx="9398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1100">
                <a:solidFill>
                  <a:srgbClr val="D2DDEE"/>
                </a:solidFill>
                <a:latin typeface="Malgun Gothic" panose="020B0503020000020004" pitchFamily="50" charset="-127"/>
              </a:rPr>
              <a:t>교수님 질문에 대비해 바로 말할 수 있는 요약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561089-5106-AE48-8CC9-3038D6EBE5D4}"/>
              </a:ext>
            </a:extLst>
          </p:cNvPr>
          <p:cNvSpPr/>
          <p:nvPr/>
        </p:nvSpPr>
        <p:spPr>
          <a:xfrm>
            <a:off x="711200" y="1854200"/>
            <a:ext cx="10668000" cy="16256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D3A498-5A27-6C95-C702-53199F62DD99}"/>
              </a:ext>
            </a:extLst>
          </p:cNvPr>
          <p:cNvSpPr txBox="1"/>
          <p:nvPr/>
        </p:nvSpPr>
        <p:spPr>
          <a:xfrm>
            <a:off x="990600" y="2159000"/>
            <a:ext cx="10109200" cy="150810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200" b="1">
                <a:solidFill>
                  <a:srgbClr val="1C242E"/>
                </a:solidFill>
                <a:latin typeface="Malgun Gothic" panose="020B0503020000020004" pitchFamily="50" charset="-127"/>
              </a:rPr>
              <a:t>“</a:t>
            </a:r>
            <a:r>
              <a:rPr lang="en-US" altLang="ko-KR" sz="2200" b="1">
                <a:solidFill>
                  <a:srgbClr val="1C242E"/>
                </a:solidFill>
                <a:latin typeface="Malgun Gothic" panose="020B0503020000020004" pitchFamily="50" charset="-127"/>
              </a:rPr>
              <a:t>DBSCAN, Kalman, parser </a:t>
            </a:r>
            <a:r>
              <a:rPr lang="ko-KR" altLang="en-US" sz="2200" b="1">
                <a:solidFill>
                  <a:srgbClr val="1C242E"/>
                </a:solidFill>
                <a:latin typeface="Malgun Gothic" panose="020B0503020000020004" pitchFamily="50" charset="-127"/>
              </a:rPr>
              <a:t>아이디어 자체는 라이브러리에서 가져왔지만</a:t>
            </a:r>
            <a:r>
              <a:rPr lang="en-US" altLang="ko-KR" sz="2200" b="1">
                <a:solidFill>
                  <a:srgbClr val="1C242E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200" b="1">
                <a:solidFill>
                  <a:srgbClr val="1C242E"/>
                </a:solidFill>
                <a:latin typeface="Malgun Gothic" panose="020B0503020000020004" pitchFamily="50" charset="-127"/>
              </a:rPr>
              <a:t>실제 레이더 장비에서는 </a:t>
            </a:r>
            <a:r>
              <a:rPr lang="en-US" altLang="ko-KR" sz="2200" b="1">
                <a:solidFill>
                  <a:srgbClr val="1C242E"/>
                </a:solidFill>
                <a:latin typeface="Malgun Gothic" panose="020B0503020000020004" pitchFamily="50" charset="-127"/>
              </a:rPr>
              <a:t>parser health, runtime-viewer </a:t>
            </a:r>
            <a:r>
              <a:rPr lang="ko-KR" altLang="en-US" sz="2200" b="1">
                <a:solidFill>
                  <a:srgbClr val="1C242E"/>
                </a:solidFill>
                <a:latin typeface="Malgun Gothic" panose="020B0503020000020004" pitchFamily="50" charset="-127"/>
              </a:rPr>
              <a:t>정합성</a:t>
            </a:r>
            <a:r>
              <a:rPr lang="en-US" altLang="ko-KR" sz="2200" b="1">
                <a:solidFill>
                  <a:srgbClr val="1C242E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200" b="1">
                <a:solidFill>
                  <a:srgbClr val="1C242E"/>
                </a:solidFill>
                <a:latin typeface="Malgun Gothic" panose="020B0503020000020004" pitchFamily="50" charset="-127"/>
              </a:rPr>
              <a:t>설치 자세 보정</a:t>
            </a:r>
            <a:r>
              <a:rPr lang="en-US" altLang="ko-KR" sz="2200" b="1">
                <a:solidFill>
                  <a:srgbClr val="1C242E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200" b="1">
                <a:solidFill>
                  <a:srgbClr val="1C242E"/>
                </a:solidFill>
                <a:latin typeface="Malgun Gothic" panose="020B0503020000020004" pitchFamily="50" charset="-127"/>
              </a:rPr>
              <a:t>로그 기반 검증 체계가 더 중요했습니다</a:t>
            </a:r>
            <a:r>
              <a:rPr lang="en-US" altLang="ko-KR" sz="2200" b="1">
                <a:solidFill>
                  <a:srgbClr val="1C242E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2200" b="1">
                <a:solidFill>
                  <a:srgbClr val="1C242E"/>
                </a:solidFill>
                <a:latin typeface="Malgun Gothic" panose="020B0503020000020004" pitchFamily="50" charset="-127"/>
              </a:rPr>
              <a:t>그래서 수정은 알고리즘이 아니라 시스템 신뢰성을 확보하는 방향으로 계속 진행되었습니다</a:t>
            </a:r>
            <a:r>
              <a:rPr lang="en-US" altLang="ko-KR" sz="2200" b="1">
                <a:solidFill>
                  <a:srgbClr val="1C242E"/>
                </a:solidFill>
                <a:latin typeface="Malgun Gothic" panose="020B0503020000020004" pitchFamily="50" charset="-127"/>
              </a:rPr>
              <a:t>.”</a:t>
            </a:r>
            <a:endParaRPr lang="ko-KR" altLang="en-US" sz="2200" b="1">
              <a:solidFill>
                <a:srgbClr val="1C24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C6CCAFE-1675-497F-978C-527C0734ACE6}"/>
              </a:ext>
            </a:extLst>
          </p:cNvPr>
          <p:cNvSpPr/>
          <p:nvPr/>
        </p:nvSpPr>
        <p:spPr>
          <a:xfrm>
            <a:off x="711200" y="3835400"/>
            <a:ext cx="5130800" cy="2362200"/>
          </a:xfrm>
          <a:prstGeom prst="rect">
            <a:avLst/>
          </a:prstGeom>
          <a:solidFill>
            <a:srgbClr val="E8F1FC"/>
          </a:solidFill>
          <a:ln w="15240">
            <a:solidFill>
              <a:srgbClr val="2A73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38FAF-C8B3-1231-B560-2600FDCBC0F4}"/>
              </a:ext>
            </a:extLst>
          </p:cNvPr>
          <p:cNvSpPr txBox="1"/>
          <p:nvPr/>
        </p:nvSpPr>
        <p:spPr>
          <a:xfrm>
            <a:off x="939800" y="4089400"/>
            <a:ext cx="4699000" cy="4924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교수님이 보실 포인트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E4360F-5564-3597-41D5-11D61F590FA7}"/>
              </a:ext>
            </a:extLst>
          </p:cNvPr>
          <p:cNvSpPr txBox="1"/>
          <p:nvPr/>
        </p:nvSpPr>
        <p:spPr>
          <a:xfrm>
            <a:off x="914400" y="4572000"/>
            <a:ext cx="4724400" cy="138499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문제를 눈에 보이게 만드는 과정이 있었다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수정 근거를 로그와 실험으로 남겼다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남은 과제도 시스템 요구사항 형태로 정리했다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3BB4E7-1384-3307-5E63-4EDC7A751FEA}"/>
              </a:ext>
            </a:extLst>
          </p:cNvPr>
          <p:cNvSpPr/>
          <p:nvPr/>
        </p:nvSpPr>
        <p:spPr>
          <a:xfrm>
            <a:off x="6248400" y="3835400"/>
            <a:ext cx="5130800" cy="2362200"/>
          </a:xfrm>
          <a:prstGeom prst="rect">
            <a:avLst/>
          </a:prstGeom>
          <a:solidFill>
            <a:srgbClr val="FCEBE9"/>
          </a:solidFill>
          <a:ln w="15240">
            <a:solidFill>
              <a:srgbClr val="C678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0B3856-52BC-3D71-274C-B80AE52F2C67}"/>
              </a:ext>
            </a:extLst>
          </p:cNvPr>
          <p:cNvSpPr txBox="1"/>
          <p:nvPr/>
        </p:nvSpPr>
        <p:spPr>
          <a:xfrm>
            <a:off x="6477000" y="4089400"/>
            <a:ext cx="4673600" cy="4924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ko-KR" altLang="en-US" sz="2200" b="1">
                <a:solidFill>
                  <a:srgbClr val="172B4D"/>
                </a:solidFill>
                <a:latin typeface="Malgun Gothic" panose="020B0503020000020004" pitchFamily="50" charset="-127"/>
              </a:rPr>
              <a:t>질문이 나오면 이렇게 답하면 좋음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B838CE-1E18-E377-A579-183E5A8EF539}"/>
              </a:ext>
            </a:extLst>
          </p:cNvPr>
          <p:cNvSpPr txBox="1"/>
          <p:nvPr/>
        </p:nvSpPr>
        <p:spPr>
          <a:xfrm>
            <a:off x="6451600" y="4572000"/>
            <a:ext cx="4724400" cy="212365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“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왜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viewer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를 다시 만들었나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?” -&gt;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튜닝 근거가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runtime truth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와 같아야 해서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“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왜 좌표 보정을 넣었나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?” -&gt;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설치 자세가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continuity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를 왜곡해서</a:t>
            </a:r>
          </a:p>
          <a:p>
            <a:endParaRPr lang="ko-KR" altLang="en-US" sz="1600">
              <a:solidFill>
                <a:srgbClr val="1C242E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• “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왜 문서가 많나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?” -&gt;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현업형 요구사항과 </a:t>
            </a:r>
            <a:r>
              <a:rPr lang="en-US" altLang="ko-KR" sz="1600">
                <a:solidFill>
                  <a:srgbClr val="1C242E"/>
                </a:solidFill>
                <a:latin typeface="Malgun Gothic" panose="020B0503020000020004" pitchFamily="50" charset="-127"/>
              </a:rPr>
              <a:t>fail-safe </a:t>
            </a:r>
            <a:r>
              <a:rPr lang="ko-KR" altLang="en-US" sz="1600">
                <a:solidFill>
                  <a:srgbClr val="1C242E"/>
                </a:solidFill>
                <a:latin typeface="Malgun Gothic" panose="020B0503020000020004" pitchFamily="50" charset="-127"/>
              </a:rPr>
              <a:t>관점까지 설명하려고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26C2B2-03A6-E77A-3DF7-A348779EDF78}"/>
              </a:ext>
            </a:extLst>
          </p:cNvPr>
          <p:cNvSpPr txBox="1"/>
          <p:nvPr/>
        </p:nvSpPr>
        <p:spPr>
          <a:xfrm>
            <a:off x="457200" y="6680200"/>
            <a:ext cx="38100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fr-FR" altLang="ko-KR" sz="900">
                <a:solidFill>
                  <a:srgbClr val="6F7A8A"/>
                </a:solidFill>
                <a:latin typeface="Malgun Gothic" panose="020B0503020000020004" pitchFamily="50" charset="-127"/>
              </a:rPr>
              <a:t>Source: docs/experiment_journal.md, docs/performance_log.md, docs/correction report/*</a:t>
            </a:r>
            <a:endParaRPr lang="ko-KR" altLang="en-US" sz="9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1B4752-0938-2CE5-A8F1-39D3C4F726E1}"/>
              </a:ext>
            </a:extLst>
          </p:cNvPr>
          <p:cNvSpPr txBox="1"/>
          <p:nvPr/>
        </p:nvSpPr>
        <p:spPr>
          <a:xfrm>
            <a:off x="11099800" y="66802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altLang="ko-KR" sz="1000">
                <a:solidFill>
                  <a:srgbClr val="6F7A8A"/>
                </a:solidFill>
                <a:latin typeface="Malgun Gothic" panose="020B0503020000020004" pitchFamily="50" charset="-127"/>
              </a:rPr>
              <a:t>11</a:t>
            </a:r>
            <a:endParaRPr lang="ko-KR" altLang="en-US" sz="1000">
              <a:solidFill>
                <a:srgbClr val="6F7A8A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3763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1694</Words>
  <Application>Microsoft Office PowerPoint</Application>
  <PresentationFormat>와이드스크린</PresentationFormat>
  <Paragraphs>227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정진수</dc:creator>
  <cp:lastModifiedBy>정진수</cp:lastModifiedBy>
  <cp:revision>1</cp:revision>
  <dcterms:created xsi:type="dcterms:W3CDTF">2026-03-22T07:56:18Z</dcterms:created>
  <dcterms:modified xsi:type="dcterms:W3CDTF">2026-03-22T07:56:19Z</dcterms:modified>
</cp:coreProperties>
</file>