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04E69-4EE0-3EC8-5D7D-7D422C03D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762BF4-AC0D-BF2D-FDEE-695F2B5C2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4D336A-FD92-1AB9-5C3E-AB2A4BC67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18A-31B7-4221-8A1F-A238DD639F03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D0910C-7E25-3708-71EE-579F7614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00D7A9-3AF6-5A42-3B5E-370DD69EA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4F99-776E-4D88-8928-FFC8078A5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198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BAB69-EB92-58F3-61E2-643D17CDF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128BFD-0B3F-F164-39CD-7193FC83F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820989-40CE-1067-452B-1CBA83FFC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18A-31B7-4221-8A1F-A238DD639F03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42C32C-258B-6898-BDC9-665982AC8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B1FF1-EC72-83A0-0313-C648251B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4F99-776E-4D88-8928-FFC8078A5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19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11946-E6CE-9A6E-9F99-33CD470C6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5CC459-127C-DC77-04AA-E44A06F4F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53523A-CEC8-75A6-2A7D-BE4AF0058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18A-31B7-4221-8A1F-A238DD639F03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C48885-DA13-562C-0974-280B6785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6C3C23-3019-F09B-C316-8E827A5E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4F99-776E-4D88-8928-FFC8078A5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42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68E63-A131-10BD-AE35-6EF5F1ED8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65E820-AE4D-2D44-7B01-446461FFEB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D50F50-053E-D5F1-5AFF-3056B9A9D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8CCAD3-CF9D-968C-13CB-B464DB566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18A-31B7-4221-8A1F-A238DD639F03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2280E7-8BD9-3AC3-BD0A-3DA40FD4B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5547F8-A2B9-AAF9-09E4-3EF17856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4F99-776E-4D88-8928-FFC8078A5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407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2F77C-8DD4-4669-4660-157F9EAF7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A2C346-8316-C89D-D5D9-1696255E3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7CE460-37FE-AEF6-0B54-8B125F3E7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E0C9CE-98BA-A775-E101-EAA4B0587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260AB6-B4E5-39FE-BAAA-42244856B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A92FF-C013-45CB-349E-A0957B35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18A-31B7-4221-8A1F-A238DD639F03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1D8091-AF84-8754-20E3-B3F45AEA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9BDA59-4BE1-C651-AF46-30F376AA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4F99-776E-4D88-8928-FFC8078A5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589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289F1-2AC4-F26F-90ED-A5BBAF39D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0F2BB9-431C-F32C-7170-53979679C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18A-31B7-4221-8A1F-A238DD639F03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51D858-B8B8-6073-8811-17711F99E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AF77DE-2343-4122-3333-DE286B377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4F99-776E-4D88-8928-FFC8078A5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155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E91885-F2AB-5606-99D5-03E215C8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18A-31B7-4221-8A1F-A238DD639F03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ED4354-A2C5-3247-EAC5-581205A27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7608E9-C8A8-81CA-412F-348F36B2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4F99-776E-4D88-8928-FFC8078A5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73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B5237-DB09-F5C3-C76B-7AD90B362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60B88C-0707-8E76-BC85-E81163A40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BBBA7E-197B-C45F-254F-730859A8D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15583E-771B-96EA-1AD7-734660337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18A-31B7-4221-8A1F-A238DD639F03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EB8E19-D835-AD96-9990-E3CA4D52D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B2CCA4-D3CF-27D2-4617-50CA6204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4F99-776E-4D88-8928-FFC8078A5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7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5DA1F-721B-BB0E-1E4C-367283A0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B19DDE-CDEB-55EC-B8A6-733CB8763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11E780-E01E-28F6-6126-3869C7B57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74E8E9-73E6-E50B-9DF3-AFF7FA9FC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18A-31B7-4221-8A1F-A238DD639F03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F535B6-47F3-0AEB-0AC8-B1C03F38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A27E5A-EC0A-4CB4-D27E-EBA4045E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4F99-776E-4D88-8928-FFC8078A5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99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A804F-667D-45A0-CF69-0A1472B0D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0C6B0D-F906-B4C0-4679-026C89A91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AD0FD4-6468-DB09-7EE2-FF3BB17F5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18A-31B7-4221-8A1F-A238DD639F03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6FE0B0-8253-D614-5278-6D78FB62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D751D-6CAB-0B9E-C53A-79A417EA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4F99-776E-4D88-8928-FFC8078A5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33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4553CD-810C-1CFA-5332-76C6C2C9C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9E0192-68DD-EB07-86CF-DDB429C0C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596B9C-F8CD-3CAD-0F09-63DCB40E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18A-31B7-4221-8A1F-A238DD639F03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657C11-22B9-5CF0-9AF1-1A6AFB1D6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E3AC39-631B-8590-6F67-79ABA4ABE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4F99-776E-4D88-8928-FFC8078A5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70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6B2BC61-C049-AC9F-4FF9-BCB29670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80DF6B-4F11-1932-3596-142D8E599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6713F8-84D4-5C8F-D4A6-FF6314E5B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7B18A-31B7-4221-8A1F-A238DD639F03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AD9262-3F74-B6A0-B8D5-9366343ED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D2FA3-5E54-91C1-2CB6-8364911CD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64F99-776E-4D88-8928-FFC8078A5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24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566DDCB-FC75-53C7-9ADA-3A62273EA6FC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CA9A16-2137-1B38-413B-021B552DC74C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718A1-23EA-5605-9F28-50E20481BF37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Radar Tracking System</a:t>
            </a:r>
            <a:endParaRPr lang="ko-KR" altLang="en-US" sz="28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06DC87-0E5B-BA7A-3AD9-880EE4A39854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라이브러리 도입 이후 왜 수정이 계속 필요했는가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D69B51-0F58-C611-5BB8-11E27E2C7E3E}"/>
              </a:ext>
            </a:extLst>
          </p:cNvPr>
          <p:cNvSpPr/>
          <p:nvPr/>
        </p:nvSpPr>
        <p:spPr>
          <a:xfrm>
            <a:off x="609600" y="1574800"/>
            <a:ext cx="10972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E7058-8D0F-49BF-D233-263EC18ED561}"/>
              </a:ext>
            </a:extLst>
          </p:cNvPr>
          <p:cNvSpPr txBox="1"/>
          <p:nvPr/>
        </p:nvSpPr>
        <p:spPr>
          <a:xfrm>
            <a:off x="889000" y="1854200"/>
            <a:ext cx="10414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 줄 요약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F9ECE0-F178-096F-F3BC-4119E325A982}"/>
              </a:ext>
            </a:extLst>
          </p:cNvPr>
          <p:cNvSpPr txBox="1"/>
          <p:nvPr/>
        </p:nvSpPr>
        <p:spPr>
          <a:xfrm>
            <a:off x="889000" y="2235200"/>
            <a:ext cx="10414000" cy="73866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알고리즘을 붙인 뒤부터가 오히려 진짜 작업이었다</a:t>
            </a:r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문제를 보이게 하고</a:t>
            </a:r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화면과 실제 런타임을 맞추고</a:t>
            </a:r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설치 자세와 성능 병목을 분리하는 과정이 계속 이어졌다</a:t>
            </a:r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100" b="1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65A772-CC20-D834-B806-27A31184A56D}"/>
              </a:ext>
            </a:extLst>
          </p:cNvPr>
          <p:cNvSpPr/>
          <p:nvPr/>
        </p:nvSpPr>
        <p:spPr>
          <a:xfrm>
            <a:off x="609600" y="3429000"/>
            <a:ext cx="3429000" cy="2387600"/>
          </a:xfrm>
          <a:prstGeom prst="rect">
            <a:avLst/>
          </a:prstGeom>
          <a:solidFill>
            <a:srgbClr val="E9F1FC"/>
          </a:solidFill>
          <a:ln w="15240">
            <a:solidFill>
              <a:srgbClr val="2C6F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1E62BE-D0CA-16F0-8411-716CDD3CE6A5}"/>
              </a:ext>
            </a:extLst>
          </p:cNvPr>
          <p:cNvSpPr txBox="1"/>
          <p:nvPr/>
        </p:nvSpPr>
        <p:spPr>
          <a:xfrm>
            <a:off x="812800" y="3632200"/>
            <a:ext cx="29972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출발점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A16420-6142-0FCE-FE92-571DEEB5CB95}"/>
              </a:ext>
            </a:extLst>
          </p:cNvPr>
          <p:cNvSpPr txBox="1"/>
          <p:nvPr/>
        </p:nvSpPr>
        <p:spPr>
          <a:xfrm>
            <a:off x="787400" y="4089400"/>
            <a:ext cx="3073400" cy="206210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TLV Parse -&gt; Filter -&gt; DBSCAN -&gt; Kalman -&gt; Viewer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구성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scikit-learn, FilterPy, TI parsing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아이디어 활용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초기 목표는 빠른 동작 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557A0AF-6D9E-EE49-67E8-BF5326F7F4B9}"/>
              </a:ext>
            </a:extLst>
          </p:cNvPr>
          <p:cNvSpPr/>
          <p:nvPr/>
        </p:nvSpPr>
        <p:spPr>
          <a:xfrm>
            <a:off x="4368800" y="3429000"/>
            <a:ext cx="3429000" cy="2387600"/>
          </a:xfrm>
          <a:prstGeom prst="rect">
            <a:avLst/>
          </a:prstGeom>
          <a:solidFill>
            <a:srgbClr val="FBECE9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421CD6-F361-9A34-8E26-3730024609B8}"/>
              </a:ext>
            </a:extLst>
          </p:cNvPr>
          <p:cNvSpPr txBox="1"/>
          <p:nvPr/>
        </p:nvSpPr>
        <p:spPr>
          <a:xfrm>
            <a:off x="4572000" y="3632200"/>
            <a:ext cx="29972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바로 드러난 문제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38622C-35A3-D8AD-58CF-239EBE3CF1F5}"/>
              </a:ext>
            </a:extLst>
          </p:cNvPr>
          <p:cNvSpPr txBox="1"/>
          <p:nvPr/>
        </p:nvSpPr>
        <p:spPr>
          <a:xfrm>
            <a:off x="4546600" y="4089400"/>
            <a:ext cx="3073400" cy="1323439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parser validity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불안정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viewer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그대로 믿기 어려움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실내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clutter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설치 자세 영향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525DEB9-58A8-65AB-7CBF-2A68A22367B9}"/>
              </a:ext>
            </a:extLst>
          </p:cNvPr>
          <p:cNvSpPr/>
          <p:nvPr/>
        </p:nvSpPr>
        <p:spPr>
          <a:xfrm>
            <a:off x="8128000" y="3429000"/>
            <a:ext cx="3454400" cy="23876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B92A75-7800-DDDD-F5F2-507B3D22CF88}"/>
              </a:ext>
            </a:extLst>
          </p:cNvPr>
          <p:cNvSpPr txBox="1"/>
          <p:nvPr/>
        </p:nvSpPr>
        <p:spPr>
          <a:xfrm>
            <a:off x="8331200" y="3632200"/>
            <a:ext cx="30226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발표 핵심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BC603C-A7AA-1C7A-3BD6-0BFBCD34E252}"/>
              </a:ext>
            </a:extLst>
          </p:cNvPr>
          <p:cNvSpPr txBox="1"/>
          <p:nvPr/>
        </p:nvSpPr>
        <p:spPr>
          <a:xfrm>
            <a:off x="8305800" y="4089400"/>
            <a:ext cx="3098800" cy="181588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라이브러리는 알고리즘 블록만 제공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장비에서는 시스템 정합성이 먼저 중요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수정이 반복되었다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A398FC-5469-51DB-70F4-4BEA6DF53815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549945-011D-D6F4-B997-1AD501C5807C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6978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D56A891-13F6-8398-762A-A5DE79E7E21B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8106DD-BF43-D79A-D71B-9AC53579C930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A11C3-9E03-51B1-D14D-12D3339116C5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왜 수정이 반복되었나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F3B159-D60F-0A4B-6D09-DC5BE57BFB98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문제는 한 군데가 아니라 네 축에서 동시에 나왔다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AD012F-4DD7-0E2D-3E02-C838685AA91B}"/>
              </a:ext>
            </a:extLst>
          </p:cNvPr>
          <p:cNvSpPr/>
          <p:nvPr/>
        </p:nvSpPr>
        <p:spPr>
          <a:xfrm>
            <a:off x="660400" y="1676400"/>
            <a:ext cx="5232400" cy="1905000"/>
          </a:xfrm>
          <a:prstGeom prst="rect">
            <a:avLst/>
          </a:prstGeom>
          <a:solidFill>
            <a:srgbClr val="E9F1FC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C4ED5-BA73-2FB0-C6A4-3713BC6A3C38}"/>
              </a:ext>
            </a:extLst>
          </p:cNvPr>
          <p:cNvSpPr txBox="1"/>
          <p:nvPr/>
        </p:nvSpPr>
        <p:spPr>
          <a:xfrm>
            <a:off x="863600" y="1879600"/>
            <a:ext cx="4826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환경 재현성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FA3A6-FF06-9B7E-BD5C-6C84005A6351}"/>
              </a:ext>
            </a:extLst>
          </p:cNvPr>
          <p:cNvSpPr txBox="1"/>
          <p:nvPr/>
        </p:nvSpPr>
        <p:spPr>
          <a:xfrm>
            <a:off x="863600" y="2336800"/>
            <a:ext cx="48260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requirements, import, cfg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응답이 정리되지 않으면 팀원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PC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같은 문제가 재현되지 않았다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EF2E62-4C31-E28A-6C19-7629D1D843AC}"/>
              </a:ext>
            </a:extLst>
          </p:cNvPr>
          <p:cNvSpPr/>
          <p:nvPr/>
        </p:nvSpPr>
        <p:spPr>
          <a:xfrm>
            <a:off x="6299200" y="1676400"/>
            <a:ext cx="5232400" cy="1905000"/>
          </a:xfrm>
          <a:prstGeom prst="rect">
            <a:avLst/>
          </a:prstGeom>
          <a:solidFill>
            <a:srgbClr val="FBECE9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8C280E-E09D-695E-CAE9-3CBBCE6D856F}"/>
              </a:ext>
            </a:extLst>
          </p:cNvPr>
          <p:cNvSpPr txBox="1"/>
          <p:nvPr/>
        </p:nvSpPr>
        <p:spPr>
          <a:xfrm>
            <a:off x="6502400" y="1879600"/>
            <a:ext cx="4826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Parser validity</a:t>
            </a:r>
            <a:endParaRPr lang="ko-KR" altLang="en-US" sz="2000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8A8BDF-9468-D7CB-4D7E-8DF011E709DB}"/>
              </a:ext>
            </a:extLst>
          </p:cNvPr>
          <p:cNvSpPr txBox="1"/>
          <p:nvPr/>
        </p:nvSpPr>
        <p:spPr>
          <a:xfrm>
            <a:off x="6502400" y="2336800"/>
            <a:ext cx="48260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malformed frame, resync, dropped frame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분리해 보지 않으면 잘못된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point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 정상처럼 보였다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307C8E-6898-7D31-93C3-FA69A0FAC015}"/>
              </a:ext>
            </a:extLst>
          </p:cNvPr>
          <p:cNvSpPr/>
          <p:nvPr/>
        </p:nvSpPr>
        <p:spPr>
          <a:xfrm>
            <a:off x="660400" y="4013200"/>
            <a:ext cx="5232400" cy="19050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2566A7-6916-1489-668E-D5FDDD84C93F}"/>
              </a:ext>
            </a:extLst>
          </p:cNvPr>
          <p:cNvSpPr txBox="1"/>
          <p:nvPr/>
        </p:nvSpPr>
        <p:spPr>
          <a:xfrm>
            <a:off x="863600" y="4216400"/>
            <a:ext cx="4826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Viewer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신뢰성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307084-0FAA-4D54-D6FD-33AA66156B2C}"/>
              </a:ext>
            </a:extLst>
          </p:cNvPr>
          <p:cNvSpPr txBox="1"/>
          <p:nvPr/>
        </p:nvSpPr>
        <p:spPr>
          <a:xfrm>
            <a:off x="863600" y="4673600"/>
            <a:ext cx="48260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viewer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runtime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같은 계산 경로를 타지 않으면 화면을 기준으로 잘못 튜닝하게 된다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59D9042-31AA-C2E8-608C-EEF3214703FF}"/>
              </a:ext>
            </a:extLst>
          </p:cNvPr>
          <p:cNvSpPr/>
          <p:nvPr/>
        </p:nvSpPr>
        <p:spPr>
          <a:xfrm>
            <a:off x="6299200" y="4013200"/>
            <a:ext cx="5232400" cy="1905000"/>
          </a:xfrm>
          <a:prstGeom prst="rect">
            <a:avLst/>
          </a:prstGeom>
          <a:solidFill>
            <a:srgbClr val="FFF6E2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3AD395-2012-4364-9E9F-D821275653E8}"/>
              </a:ext>
            </a:extLst>
          </p:cNvPr>
          <p:cNvSpPr txBox="1"/>
          <p:nvPr/>
        </p:nvSpPr>
        <p:spPr>
          <a:xfrm>
            <a:off x="6502400" y="4216400"/>
            <a:ext cx="4826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실내 설치 조건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DBA344-E1B7-133E-37DA-EDA0CB0E0F89}"/>
              </a:ext>
            </a:extLst>
          </p:cNvPr>
          <p:cNvSpPr txBox="1"/>
          <p:nvPr/>
        </p:nvSpPr>
        <p:spPr>
          <a:xfrm>
            <a:off x="6502400" y="4673600"/>
            <a:ext cx="48260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yaw, pitch, height, range gate, clutter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continuity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split track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직접 영향을 줬다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F0C8ED-4F1F-B32F-3E26-007903EF789D}"/>
              </a:ext>
            </a:extLst>
          </p:cNvPr>
          <p:cNvSpPr txBox="1"/>
          <p:nvPr/>
        </p:nvSpPr>
        <p:spPr>
          <a:xfrm>
            <a:off x="711200" y="6350000"/>
            <a:ext cx="107188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정리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수정은 “코드가 틀려서”가 아니라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라이브러리 위에 실제 장비용 관측 체계와 운영 구조를 올리는 과정이었다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45ADD8-C1D4-9B0E-045F-BDD95B89107D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197906-9AFE-6A6B-8437-6FB2D71C1619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5555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3D6003E-FDB4-C187-1032-383A02FAB1E1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FA3EF9-0716-848C-9559-0D9C5AFC746C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C344B-72E9-2B87-335F-770CA77DAC50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 흐름 타임라인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0B10E-C58B-FA66-3529-57B4F32003D1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03-15 -&gt; 03-19</a:t>
            </a:r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갈수록 알고리즘보다 구조와 검증 체계 쪽으로 이동했다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1C524E-1730-ACF2-03B2-ACFAF4A5CF54}"/>
              </a:ext>
            </a:extLst>
          </p:cNvPr>
          <p:cNvSpPr/>
          <p:nvPr/>
        </p:nvSpPr>
        <p:spPr>
          <a:xfrm>
            <a:off x="1143000" y="3276600"/>
            <a:ext cx="9906000" cy="76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C0B51B-BE60-8324-B320-D213C2FF691A}"/>
              </a:ext>
            </a:extLst>
          </p:cNvPr>
          <p:cNvSpPr/>
          <p:nvPr/>
        </p:nvSpPr>
        <p:spPr>
          <a:xfrm>
            <a:off x="1270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5116E3-4466-F4C7-ACF0-9D8D95007844}"/>
              </a:ext>
            </a:extLst>
          </p:cNvPr>
          <p:cNvSpPr txBox="1"/>
          <p:nvPr/>
        </p:nvSpPr>
        <p:spPr>
          <a:xfrm>
            <a:off x="1143000" y="2641600"/>
            <a:ext cx="1066800" cy="33855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03-15</a:t>
            </a:r>
            <a:endParaRPr lang="ko-KR" altLang="en-US" sz="1600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02B9ED-1EF9-5FA7-568D-D7AAA23A1A99}"/>
              </a:ext>
            </a:extLst>
          </p:cNvPr>
          <p:cNvSpPr/>
          <p:nvPr/>
        </p:nvSpPr>
        <p:spPr>
          <a:xfrm>
            <a:off x="660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85DAF1-2316-AB9F-7CBB-025EDA19BE8F}"/>
              </a:ext>
            </a:extLst>
          </p:cNvPr>
          <p:cNvSpPr txBox="1"/>
          <p:nvPr/>
        </p:nvSpPr>
        <p:spPr>
          <a:xfrm>
            <a:off x="787400" y="3987800"/>
            <a:ext cx="1219200" cy="55399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관측 가능성 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489F4-535D-B475-C4A0-92A72216F6C8}"/>
              </a:ext>
            </a:extLst>
          </p:cNvPr>
          <p:cNvSpPr txBox="1"/>
          <p:nvPr/>
        </p:nvSpPr>
        <p:spPr>
          <a:xfrm>
            <a:off x="787400" y="4368800"/>
            <a:ext cx="1219200" cy="101566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requirements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정리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\ncfg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응답 로그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\nType1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누락 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fail</a:t>
            </a:r>
            <a:endParaRPr lang="ko-KR" altLang="en-US" sz="12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BF43C9-69DD-67EE-E758-8EBB5BB4D1AC}"/>
              </a:ext>
            </a:extLst>
          </p:cNvPr>
          <p:cNvSpPr/>
          <p:nvPr/>
        </p:nvSpPr>
        <p:spPr>
          <a:xfrm>
            <a:off x="3302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14A2D7-80AA-1C2E-DB11-8F8EBBCA1FD5}"/>
              </a:ext>
            </a:extLst>
          </p:cNvPr>
          <p:cNvSpPr txBox="1"/>
          <p:nvPr/>
        </p:nvSpPr>
        <p:spPr>
          <a:xfrm>
            <a:off x="3175000" y="2641600"/>
            <a:ext cx="10668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03-18 </a:t>
            </a:r>
            <a:r>
              <a:rPr lang="ko-KR" altLang="en-US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F39217-3E6C-FCD9-3EA7-F2AFBC69D0DB}"/>
              </a:ext>
            </a:extLst>
          </p:cNvPr>
          <p:cNvSpPr/>
          <p:nvPr/>
        </p:nvSpPr>
        <p:spPr>
          <a:xfrm>
            <a:off x="2692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60B3A9-88D0-8EA0-F207-0E7A47A12C42}"/>
              </a:ext>
            </a:extLst>
          </p:cNvPr>
          <p:cNvSpPr txBox="1"/>
          <p:nvPr/>
        </p:nvSpPr>
        <p:spPr>
          <a:xfrm>
            <a:off x="2819400" y="3987800"/>
            <a:ext cx="1219200" cy="32316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필터 튜닝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AE4B78-1C6B-C500-DD90-695ED91C4A2B}"/>
              </a:ext>
            </a:extLst>
          </p:cNvPr>
          <p:cNvSpPr txBox="1"/>
          <p:nvPr/>
        </p:nvSpPr>
        <p:spPr>
          <a:xfrm>
            <a:off x="2819400" y="4368800"/>
            <a:ext cx="1219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keepout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조정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\nmax_range\nz gate</a:t>
            </a:r>
            <a:endParaRPr lang="ko-KR" altLang="en-US" sz="12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A55AE2B-A7D1-E596-AC61-8159B5227C30}"/>
              </a:ext>
            </a:extLst>
          </p:cNvPr>
          <p:cNvSpPr/>
          <p:nvPr/>
        </p:nvSpPr>
        <p:spPr>
          <a:xfrm>
            <a:off x="5334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83FF6C-7E21-ED6D-7BBA-32D24BD03AEF}"/>
              </a:ext>
            </a:extLst>
          </p:cNvPr>
          <p:cNvSpPr txBox="1"/>
          <p:nvPr/>
        </p:nvSpPr>
        <p:spPr>
          <a:xfrm>
            <a:off x="5207000" y="2641600"/>
            <a:ext cx="10668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03-18 </a:t>
            </a:r>
            <a:r>
              <a:rPr lang="ko-KR" altLang="en-US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오후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29C5DC-75C5-6B2C-D4EC-2369518117D9}"/>
              </a:ext>
            </a:extLst>
          </p:cNvPr>
          <p:cNvSpPr/>
          <p:nvPr/>
        </p:nvSpPr>
        <p:spPr>
          <a:xfrm>
            <a:off x="4724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5D2996-6644-1614-E515-A25D315E820C}"/>
              </a:ext>
            </a:extLst>
          </p:cNvPr>
          <p:cNvSpPr txBox="1"/>
          <p:nvPr/>
        </p:nvSpPr>
        <p:spPr>
          <a:xfrm>
            <a:off x="4851400" y="3987800"/>
            <a:ext cx="1219200" cy="32316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 분리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1F1B64-BC17-E1B9-8923-786390C9C1B9}"/>
              </a:ext>
            </a:extLst>
          </p:cNvPr>
          <p:cNvSpPr txBox="1"/>
          <p:nvPr/>
        </p:nvSpPr>
        <p:spPr>
          <a:xfrm>
            <a:off x="4851400" y="4368800"/>
            <a:ext cx="1219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runtime_pipeline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\n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공용 </a:t>
            </a:r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params</a:t>
            </a:r>
            <a:endParaRPr lang="ko-KR" altLang="en-US" sz="12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65E7F1C-8E92-1736-44FE-1CEB262C813F}"/>
              </a:ext>
            </a:extLst>
          </p:cNvPr>
          <p:cNvSpPr/>
          <p:nvPr/>
        </p:nvSpPr>
        <p:spPr>
          <a:xfrm>
            <a:off x="7366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1CA4F8-E5CB-4583-B075-D2019DA78F37}"/>
              </a:ext>
            </a:extLst>
          </p:cNvPr>
          <p:cNvSpPr txBox="1"/>
          <p:nvPr/>
        </p:nvSpPr>
        <p:spPr>
          <a:xfrm>
            <a:off x="7239000" y="2641600"/>
            <a:ext cx="1066800" cy="33855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03-18 </a:t>
            </a:r>
            <a:r>
              <a:rPr lang="ko-KR" altLang="en-US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E5CB6AA-0A8A-B1AF-F728-71AFB1751694}"/>
              </a:ext>
            </a:extLst>
          </p:cNvPr>
          <p:cNvSpPr/>
          <p:nvPr/>
        </p:nvSpPr>
        <p:spPr>
          <a:xfrm>
            <a:off x="6756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7D4B6B-F0DE-217F-3124-A343A3200B6E}"/>
              </a:ext>
            </a:extLst>
          </p:cNvPr>
          <p:cNvSpPr txBox="1"/>
          <p:nvPr/>
        </p:nvSpPr>
        <p:spPr>
          <a:xfrm>
            <a:off x="6883400" y="3987800"/>
            <a:ext cx="1219200" cy="55399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viewer </a:t>
            </a:r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BFB666-6472-5E6D-0BA3-5D3409792B2A}"/>
              </a:ext>
            </a:extLst>
          </p:cNvPr>
          <p:cNvSpPr txBox="1"/>
          <p:nvPr/>
        </p:nvSpPr>
        <p:spPr>
          <a:xfrm>
            <a:off x="6883400" y="4368800"/>
            <a:ext cx="1219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shared path\ncallback renderer</a:t>
            </a:r>
            <a:endParaRPr lang="ko-KR" altLang="en-US" sz="12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F9260BF-6A1F-62B4-45FA-E420FD23868C}"/>
              </a:ext>
            </a:extLst>
          </p:cNvPr>
          <p:cNvSpPr/>
          <p:nvPr/>
        </p:nvSpPr>
        <p:spPr>
          <a:xfrm>
            <a:off x="9398000" y="3073400"/>
            <a:ext cx="254000" cy="457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E316C1-C71A-E581-D5DD-73F3FB345AAC}"/>
              </a:ext>
            </a:extLst>
          </p:cNvPr>
          <p:cNvSpPr txBox="1"/>
          <p:nvPr/>
        </p:nvSpPr>
        <p:spPr>
          <a:xfrm>
            <a:off x="9271000" y="2641600"/>
            <a:ext cx="1066800" cy="33855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03-19</a:t>
            </a:r>
            <a:endParaRPr lang="ko-KR" altLang="en-US" sz="1600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2751E41-9BF8-03AF-E99B-6020174335DC}"/>
              </a:ext>
            </a:extLst>
          </p:cNvPr>
          <p:cNvSpPr/>
          <p:nvPr/>
        </p:nvSpPr>
        <p:spPr>
          <a:xfrm>
            <a:off x="8788400" y="3810000"/>
            <a:ext cx="147320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6635BB-C2A3-86EC-86B4-AAE434F0673F}"/>
              </a:ext>
            </a:extLst>
          </p:cNvPr>
          <p:cNvSpPr txBox="1"/>
          <p:nvPr/>
        </p:nvSpPr>
        <p:spPr>
          <a:xfrm>
            <a:off x="8915400" y="3987800"/>
            <a:ext cx="1219200" cy="55399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좌표</a:t>
            </a:r>
            <a:r>
              <a:rPr lang="en-US" altLang="ko-KR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5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성능 분리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1D4F6F-458E-D575-0CBF-E46D0E2598B1}"/>
              </a:ext>
            </a:extLst>
          </p:cNvPr>
          <p:cNvSpPr txBox="1"/>
          <p:nvPr/>
        </p:nvSpPr>
        <p:spPr>
          <a:xfrm>
            <a:off x="8915400" y="4368800"/>
            <a:ext cx="1219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yaw/pitch/height\nworker/draw </a:t>
            </a:r>
            <a:r>
              <a:rPr lang="ko-KR" altLang="en-US" sz="12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4A7215-71B0-BA1D-ECD8-876F5D3E740B}"/>
              </a:ext>
            </a:extLst>
          </p:cNvPr>
          <p:cNvSpPr txBox="1"/>
          <p:nvPr/>
        </p:nvSpPr>
        <p:spPr>
          <a:xfrm>
            <a:off x="711200" y="6070600"/>
            <a:ext cx="106680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변화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“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알고리즘이 있냐”에서 끝나지 않고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runtime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 정합성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시각화 신뢰성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설치 좌표 보정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자동 리포트까지 확장됐다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512072-48D4-2A8A-DE1B-DE7FAB498F92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728E00-490B-DBC6-85F7-3665D9D229E7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428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4D004A-DDF0-F275-22B3-DAD08ED1F74F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D64659-8675-60F3-191C-4EC9F2BA0BC6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1388E-0D0F-033C-5E2D-AF85E97DCF5F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무엇을 어떻게 고쳤나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8979C1-4D2C-297C-58A6-F7B1A4187811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변경은 크게 세 단계로 설명하는 것이 발표에 가장 안정적이다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8A060C-7161-3FB0-CB7D-BEF55B1EBB71}"/>
              </a:ext>
            </a:extLst>
          </p:cNvPr>
          <p:cNvSpPr/>
          <p:nvPr/>
        </p:nvSpPr>
        <p:spPr>
          <a:xfrm>
            <a:off x="609600" y="1778000"/>
            <a:ext cx="3429000" cy="3810000"/>
          </a:xfrm>
          <a:prstGeom prst="rect">
            <a:avLst/>
          </a:prstGeom>
          <a:solidFill>
            <a:srgbClr val="E9F1FC"/>
          </a:solidFill>
          <a:ln w="15240">
            <a:solidFill>
              <a:srgbClr val="2C6F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B889E7-7AE0-B3BC-4C97-CB0B20952DBB}"/>
              </a:ext>
            </a:extLst>
          </p:cNvPr>
          <p:cNvSpPr txBox="1"/>
          <p:nvPr/>
        </p:nvSpPr>
        <p:spPr>
          <a:xfrm>
            <a:off x="812800" y="2006600"/>
            <a:ext cx="29972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실패를 보이게 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BD0A2D-57DB-4D18-9F81-D00A6B3F1063}"/>
              </a:ext>
            </a:extLst>
          </p:cNvPr>
          <p:cNvSpPr txBox="1"/>
          <p:nvPr/>
        </p:nvSpPr>
        <p:spPr>
          <a:xfrm>
            <a:off x="787400" y="2514600"/>
            <a:ext cx="3073400" cy="230832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cfg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응답 로그 추가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Type1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누락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frame fail</a:t>
            </a:r>
          </a:p>
          <a:p>
            <a:endParaRPr lang="en-US" altLang="ko-KR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error log / correction report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누적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문제를 재현 가능한 상태로 전환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966C3A-B803-0D41-3172-2D59C321B7E6}"/>
              </a:ext>
            </a:extLst>
          </p:cNvPr>
          <p:cNvSpPr/>
          <p:nvPr/>
        </p:nvSpPr>
        <p:spPr>
          <a:xfrm>
            <a:off x="4368800" y="1778000"/>
            <a:ext cx="3429000" cy="38100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D33EC7-7233-6594-482B-1C22DB450D14}"/>
              </a:ext>
            </a:extLst>
          </p:cNvPr>
          <p:cNvSpPr txBox="1"/>
          <p:nvPr/>
        </p:nvSpPr>
        <p:spPr>
          <a:xfrm>
            <a:off x="4572000" y="2006600"/>
            <a:ext cx="2997200" cy="707886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2. viewer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</a:t>
            </a:r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runtime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과 맞춤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44C34E-975D-17F4-D5E8-BEE2C00A0014}"/>
              </a:ext>
            </a:extLst>
          </p:cNvPr>
          <p:cNvSpPr txBox="1"/>
          <p:nvPr/>
        </p:nvSpPr>
        <p:spPr>
          <a:xfrm>
            <a:off x="4546600" y="2514600"/>
            <a:ext cx="3073400" cy="230832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motion cloud / trail / overlay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추가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shared processing path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callback renderer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재구성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화면과 로그를 같은 근거로 비교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5BD6AC-60BF-1917-C3AC-2C6002728251}"/>
              </a:ext>
            </a:extLst>
          </p:cNvPr>
          <p:cNvSpPr/>
          <p:nvPr/>
        </p:nvSpPr>
        <p:spPr>
          <a:xfrm>
            <a:off x="8128000" y="1778000"/>
            <a:ext cx="3454400" cy="3810000"/>
          </a:xfrm>
          <a:prstGeom prst="rect">
            <a:avLst/>
          </a:prstGeom>
          <a:solidFill>
            <a:srgbClr val="FFF6E2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407C8F-9580-4C5C-D70B-5873DC1C5FC0}"/>
              </a:ext>
            </a:extLst>
          </p:cNvPr>
          <p:cNvSpPr txBox="1"/>
          <p:nvPr/>
        </p:nvSpPr>
        <p:spPr>
          <a:xfrm>
            <a:off x="8331200" y="2006600"/>
            <a:ext cx="30226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3.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설치</a:t>
            </a:r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성능 왜곡 분리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53EC2B-004E-C469-02A8-7FCDA03531C2}"/>
              </a:ext>
            </a:extLst>
          </p:cNvPr>
          <p:cNvSpPr txBox="1"/>
          <p:nvPr/>
        </p:nvSpPr>
        <p:spPr>
          <a:xfrm>
            <a:off x="8305800" y="2514600"/>
            <a:ext cx="3098800" cy="230832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sensor yaw / pitch / height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world coordinate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정렬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worker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draw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logging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병목과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draw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병목 분리 측정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0A3515-ECFA-0E3F-D0DB-A92093B31ABE}"/>
              </a:ext>
            </a:extLst>
          </p:cNvPr>
          <p:cNvSpPr txBox="1"/>
          <p:nvPr/>
        </p:nvSpPr>
        <p:spPr>
          <a:xfrm>
            <a:off x="660400" y="6019800"/>
            <a:ext cx="10922000" cy="38100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즉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수정은 기능 추가라기보다 “무엇을 믿어야 하는지”를 만드는 작업이었다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7294B2-F78B-7A27-BC33-407B0CC9B49D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96D39A-DB34-3AF2-8071-EDBF8F4AB397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5564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DC28D2C-A6D8-C67A-4736-5F3B883C7F57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84D122-A723-65D4-3036-C9D73A130D55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A0BC9-5E8B-6211-49FB-7A684385F5A6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로그로 본 개선 근거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42CC89-79FB-ED33-AD91-2568706A7ADD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문제가 사라진 것이 아니라</a:t>
            </a:r>
            <a:r>
              <a:rPr lang="en-US" altLang="ko-KR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병목이 점점 더 분리되어 보이게 되었다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E2871D-5DD5-BBE0-4717-A45BA52B371F}"/>
              </a:ext>
            </a:extLst>
          </p:cNvPr>
          <p:cNvSpPr/>
          <p:nvPr/>
        </p:nvSpPr>
        <p:spPr>
          <a:xfrm>
            <a:off x="660400" y="1752600"/>
            <a:ext cx="3276600" cy="1981200"/>
          </a:xfrm>
          <a:prstGeom prst="rect">
            <a:avLst/>
          </a:prstGeom>
          <a:solidFill>
            <a:srgbClr val="FBECE9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E733CD-B9FC-7D9B-0045-C47CCD6FBB94}"/>
              </a:ext>
            </a:extLst>
          </p:cNvPr>
          <p:cNvSpPr txBox="1"/>
          <p:nvPr/>
        </p:nvSpPr>
        <p:spPr>
          <a:xfrm>
            <a:off x="863600" y="1981200"/>
            <a:ext cx="28448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03-15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초기 상태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7F8AE-48EB-CAFB-AF8E-11A551A006C7}"/>
              </a:ext>
            </a:extLst>
          </p:cNvPr>
          <p:cNvSpPr txBox="1"/>
          <p:nvPr/>
        </p:nvSpPr>
        <p:spPr>
          <a:xfrm>
            <a:off x="863600" y="2489200"/>
            <a:ext cx="2844800" cy="138499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100" b="1">
                <a:solidFill>
                  <a:srgbClr val="A643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FPS 0.158`r`navg pipeline 6311 ms`r`n</a:t>
            </a:r>
            <a:r>
              <a:rPr lang="ko-KR" altLang="en-US" sz="2100" b="1">
                <a:solidFill>
                  <a:srgbClr val="A643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사실상 </a:t>
            </a:r>
            <a:r>
              <a:rPr lang="en-US" altLang="ko-KR" sz="2100" b="1">
                <a:solidFill>
                  <a:srgbClr val="A643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usable </a:t>
            </a:r>
            <a:r>
              <a:rPr lang="ko-KR" altLang="en-US" sz="2100" b="1">
                <a:solidFill>
                  <a:srgbClr val="A643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하지 않음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82BCA95-99E3-C311-3AC1-AF8AA96D92E9}"/>
              </a:ext>
            </a:extLst>
          </p:cNvPr>
          <p:cNvSpPr/>
          <p:nvPr/>
        </p:nvSpPr>
        <p:spPr>
          <a:xfrm>
            <a:off x="4470400" y="1752600"/>
            <a:ext cx="3276600" cy="1981200"/>
          </a:xfrm>
          <a:prstGeom prst="rect">
            <a:avLst/>
          </a:prstGeom>
          <a:solidFill>
            <a:srgbClr val="FFF6E2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93B86-E972-5BF4-B3C5-4CC64DB44B06}"/>
              </a:ext>
            </a:extLst>
          </p:cNvPr>
          <p:cNvSpPr txBox="1"/>
          <p:nvPr/>
        </p:nvSpPr>
        <p:spPr>
          <a:xfrm>
            <a:off x="4673600" y="1981200"/>
            <a:ext cx="28448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03-18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중간 상태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799C9-07D1-674C-C3A8-4D6A6EBE3957}"/>
              </a:ext>
            </a:extLst>
          </p:cNvPr>
          <p:cNvSpPr txBox="1"/>
          <p:nvPr/>
        </p:nvSpPr>
        <p:spPr>
          <a:xfrm>
            <a:off x="4673600" y="2489200"/>
            <a:ext cx="2844800" cy="1061829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FPS 9.36`r`nfilter</a:t>
            </a:r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동작</a:t>
            </a:r>
            <a:r>
              <a:rPr lang="en-US" altLang="ko-KR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`r`nzero-track </a:t>
            </a:r>
            <a:r>
              <a:rPr lang="ko-KR" altLang="en-US" sz="2100" b="1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많음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8CBF6F4-C1B2-A577-3ECD-29C7771DC299}"/>
              </a:ext>
            </a:extLst>
          </p:cNvPr>
          <p:cNvSpPr/>
          <p:nvPr/>
        </p:nvSpPr>
        <p:spPr>
          <a:xfrm>
            <a:off x="8280400" y="1752600"/>
            <a:ext cx="3276600" cy="19812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041A6-7D05-9AE6-6392-64F13CC722FA}"/>
              </a:ext>
            </a:extLst>
          </p:cNvPr>
          <p:cNvSpPr txBox="1"/>
          <p:nvPr/>
        </p:nvSpPr>
        <p:spPr>
          <a:xfrm>
            <a:off x="8483600" y="1981200"/>
            <a:ext cx="28448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03-19 </a:t>
            </a:r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최근 상태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5961EE-B227-6685-F5AD-FA5ECF0647EB}"/>
              </a:ext>
            </a:extLst>
          </p:cNvPr>
          <p:cNvSpPr txBox="1"/>
          <p:nvPr/>
        </p:nvSpPr>
        <p:spPr>
          <a:xfrm>
            <a:off x="8483600" y="2489200"/>
            <a:ext cx="2844800" cy="1061829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2100" b="1">
                <a:solidFill>
                  <a:srgbClr val="2B6F5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FPS 9.87`r`nparser health </a:t>
            </a:r>
            <a:r>
              <a:rPr lang="ko-KR" altLang="en-US" sz="2100" b="1">
                <a:solidFill>
                  <a:srgbClr val="2B6F5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개선</a:t>
            </a:r>
            <a:r>
              <a:rPr lang="en-US" altLang="ko-KR" sz="2100" b="1">
                <a:solidFill>
                  <a:srgbClr val="2B6F5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`r`n</a:t>
            </a:r>
            <a:r>
              <a:rPr lang="ko-KR" altLang="en-US" sz="2100" b="1">
                <a:solidFill>
                  <a:srgbClr val="2B6F5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실사용 가능성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62F6B2-42A6-70C2-EF15-4F66F1FAAEC8}"/>
              </a:ext>
            </a:extLst>
          </p:cNvPr>
          <p:cNvSpPr/>
          <p:nvPr/>
        </p:nvSpPr>
        <p:spPr>
          <a:xfrm>
            <a:off x="660400" y="4140200"/>
            <a:ext cx="10896600" cy="2159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F22197-7597-141B-6FBF-B6F806355E79}"/>
              </a:ext>
            </a:extLst>
          </p:cNvPr>
          <p:cNvSpPr txBox="1"/>
          <p:nvPr/>
        </p:nvSpPr>
        <p:spPr>
          <a:xfrm>
            <a:off x="863600" y="4368800"/>
            <a:ext cx="3810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최근 로그 해석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2E2F65-AD1C-8F2F-5384-7933CD86476E}"/>
              </a:ext>
            </a:extLst>
          </p:cNvPr>
          <p:cNvSpPr txBox="1"/>
          <p:nvPr/>
        </p:nvSpPr>
        <p:spPr>
          <a:xfrm>
            <a:off x="838200" y="4851400"/>
            <a:ext cx="10490200" cy="1323439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20260319_023912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Avg FPS 9.915, parse_fail 3, resync 25, dropped 5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health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확실히 좋아졌다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남은 문제는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zero-track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multi-track split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이제는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range gate / ROI / continuity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최적화 단계다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즉 “전체가 안 됨” 단계는 벗어났고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남은 병목이 더 구체적으로 보이기 시작했다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AE0278-B14A-139D-01FF-B6FC723BF380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C651A3-6079-902E-6FB1-AF2AC5E41B66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124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87B8C99-8330-9744-05E6-80E409FA753F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518D5F-546D-1C26-41C8-E78DD9349400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25588-1E32-09D4-D24B-D51F66E56E40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가져온 것과 직접 기여한 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2631F5-B57A-69C9-E69D-CB6F4785C336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교수님께는 이 구분을 분명히 보여주는 것이 가장 중요하다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4F4A22-4C50-A3EE-B751-A1E31182C1CA}"/>
              </a:ext>
            </a:extLst>
          </p:cNvPr>
          <p:cNvSpPr/>
          <p:nvPr/>
        </p:nvSpPr>
        <p:spPr>
          <a:xfrm>
            <a:off x="609600" y="1803400"/>
            <a:ext cx="3632200" cy="3708400"/>
          </a:xfrm>
          <a:prstGeom prst="rect">
            <a:avLst/>
          </a:prstGeom>
          <a:solidFill>
            <a:srgbClr val="E9F1FC"/>
          </a:solidFill>
          <a:ln w="15240">
            <a:solidFill>
              <a:srgbClr val="2C6F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AECCD-7969-97AD-2556-DFA178E5947E}"/>
              </a:ext>
            </a:extLst>
          </p:cNvPr>
          <p:cNvSpPr txBox="1"/>
          <p:nvPr/>
        </p:nvSpPr>
        <p:spPr>
          <a:xfrm>
            <a:off x="812800" y="2032000"/>
            <a:ext cx="32004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가져온 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2B800-D614-FC78-705F-D56DDAFBD475}"/>
              </a:ext>
            </a:extLst>
          </p:cNvPr>
          <p:cNvSpPr txBox="1"/>
          <p:nvPr/>
        </p:nvSpPr>
        <p:spPr>
          <a:xfrm>
            <a:off x="787400" y="2540000"/>
            <a:ext cx="3276600" cy="192360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DBSCAN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알고리즘 구현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Kalman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수학 기반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TI TLV parsing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아이디어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기본 시각화 도구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3FE111-0AB1-67D8-826C-06AF009B1D6E}"/>
              </a:ext>
            </a:extLst>
          </p:cNvPr>
          <p:cNvSpPr/>
          <p:nvPr/>
        </p:nvSpPr>
        <p:spPr>
          <a:xfrm>
            <a:off x="4521200" y="1803400"/>
            <a:ext cx="7061200" cy="37084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D78751-0D25-C5FE-5ADA-B81EF4524131}"/>
              </a:ext>
            </a:extLst>
          </p:cNvPr>
          <p:cNvSpPr txBox="1"/>
          <p:nvPr/>
        </p:nvSpPr>
        <p:spPr>
          <a:xfrm>
            <a:off x="4724400" y="2032000"/>
            <a:ext cx="66294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직접 기여한 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88C869-E08F-8F45-F3C8-D29182C510AD}"/>
              </a:ext>
            </a:extLst>
          </p:cNvPr>
          <p:cNvSpPr txBox="1"/>
          <p:nvPr/>
        </p:nvSpPr>
        <p:spPr>
          <a:xfrm>
            <a:off x="4699000" y="2540000"/>
            <a:ext cx="6705600" cy="2800767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환경 재현성과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cfg bring-up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체계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parser validity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정책과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health logging</a:t>
            </a:r>
          </a:p>
          <a:p>
            <a:endParaRPr lang="en-US" altLang="ko-KR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shared runtime pipeline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과 공용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params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yaw / pitch / height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기반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world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viewer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 재설계와 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draw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  <a:p>
            <a:endParaRPr lang="ko-KR" altLang="en-US" sz="16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자동 리포트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성능 로그</a:t>
            </a:r>
            <a:r>
              <a:rPr lang="en-US" altLang="ko-KR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REQ </a:t>
            </a:r>
            <a:r>
              <a:rPr lang="ko-KR" altLang="en-US" sz="16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문서 패키지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06C60E-B33D-6CF4-85D8-5CD319BD1678}"/>
              </a:ext>
            </a:extLst>
          </p:cNvPr>
          <p:cNvSpPr txBox="1"/>
          <p:nvPr/>
        </p:nvSpPr>
        <p:spPr>
          <a:xfrm>
            <a:off x="660400" y="6019800"/>
            <a:ext cx="10871200" cy="64633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발표 결론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라이브러리를 “붙였다”가 아니라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 위에 신뢰 가능한 레이더 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SW </a:t>
            </a:r>
            <a:r>
              <a:rPr lang="ko-KR" altLang="en-US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운영 구조를 직접 설계했다</a:t>
            </a:r>
            <a:r>
              <a:rPr lang="en-US" altLang="ko-KR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1">
              <a:solidFill>
                <a:srgbClr val="13294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1DE829-4EEE-0617-31EF-8ACBDDF88464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EB049C-D343-9E7E-76AD-7FF65C8DEEC9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844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41E3C56-115C-D2F7-216D-DA1E369A937D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2F1DE3-9127-4F8A-5A08-9299A3DD41C4}"/>
              </a:ext>
            </a:extLst>
          </p:cNvPr>
          <p:cNvSpPr/>
          <p:nvPr/>
        </p:nvSpPr>
        <p:spPr>
          <a:xfrm>
            <a:off x="457200" y="965200"/>
            <a:ext cx="2159000" cy="50800"/>
          </a:xfrm>
          <a:prstGeom prst="rect">
            <a:avLst/>
          </a:prstGeom>
          <a:solidFill>
            <a:srgbClr val="E6AC3C"/>
          </a:solidFill>
          <a:ln w="0">
            <a:solidFill>
              <a:srgbClr val="E6A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3739AB-38B8-6461-7A88-998ACC8BEFB9}"/>
              </a:ext>
            </a:extLst>
          </p:cNvPr>
          <p:cNvSpPr txBox="1"/>
          <p:nvPr/>
        </p:nvSpPr>
        <p:spPr>
          <a:xfrm>
            <a:off x="457200" y="254000"/>
            <a:ext cx="7874000" cy="52322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 상태와 다음 단계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1A519-63E8-3870-6774-AC91120D6EA1}"/>
              </a:ext>
            </a:extLst>
          </p:cNvPr>
          <p:cNvSpPr txBox="1"/>
          <p:nvPr/>
        </p:nvSpPr>
        <p:spPr>
          <a:xfrm>
            <a:off x="457200" y="660400"/>
            <a:ext cx="9652000" cy="2616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무엇이 해결됐고</a:t>
            </a:r>
            <a:r>
              <a:rPr lang="en-US" altLang="ko-KR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D6DFE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무엇이 앞으로 남았는지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1B48DD-FC99-6FF6-B3AD-9E0CA2CB21CF}"/>
              </a:ext>
            </a:extLst>
          </p:cNvPr>
          <p:cNvSpPr/>
          <p:nvPr/>
        </p:nvSpPr>
        <p:spPr>
          <a:xfrm>
            <a:off x="609600" y="1828800"/>
            <a:ext cx="5130800" cy="3784600"/>
          </a:xfrm>
          <a:prstGeom prst="rect">
            <a:avLst/>
          </a:prstGeom>
          <a:solidFill>
            <a:srgbClr val="E8F5F0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96220-3E71-D1A4-E359-99CD4C5E63CE}"/>
              </a:ext>
            </a:extLst>
          </p:cNvPr>
          <p:cNvSpPr txBox="1"/>
          <p:nvPr/>
        </p:nvSpPr>
        <p:spPr>
          <a:xfrm>
            <a:off x="812800" y="2057400"/>
            <a:ext cx="46990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 확보한 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020A30-E011-B443-8E17-61F1399259DE}"/>
              </a:ext>
            </a:extLst>
          </p:cNvPr>
          <p:cNvSpPr txBox="1"/>
          <p:nvPr/>
        </p:nvSpPr>
        <p:spPr>
          <a:xfrm>
            <a:off x="787400" y="2565400"/>
            <a:ext cx="4775200" cy="192360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shared runtime pipeline</a:t>
            </a:r>
          </a:p>
          <a:p>
            <a:endParaRPr lang="en-US" altLang="ko-KR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viewer/runtime truth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정렬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world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보정과 </a:t>
            </a:r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draw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자동 실험 리포트와 요구사항 문서화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7454CB-B20C-7732-84B2-A1CDA759A5FC}"/>
              </a:ext>
            </a:extLst>
          </p:cNvPr>
          <p:cNvSpPr/>
          <p:nvPr/>
        </p:nvSpPr>
        <p:spPr>
          <a:xfrm>
            <a:off x="6096000" y="1828800"/>
            <a:ext cx="5486400" cy="3784600"/>
          </a:xfrm>
          <a:prstGeom prst="rect">
            <a:avLst/>
          </a:prstGeom>
          <a:solidFill>
            <a:srgbClr val="FFF6E2"/>
          </a:solidFill>
          <a:ln w="15240">
            <a:solidFill>
              <a:srgbClr val="D2DA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2AE478-D75F-2D40-C994-ECD05421CF52}"/>
              </a:ext>
            </a:extLst>
          </p:cNvPr>
          <p:cNvSpPr txBox="1"/>
          <p:nvPr/>
        </p:nvSpPr>
        <p:spPr>
          <a:xfrm>
            <a:off x="6299200" y="2057400"/>
            <a:ext cx="5054600" cy="400110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2000" b="1">
                <a:solidFill>
                  <a:srgbClr val="13294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다음 단계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DCDB80-BC51-04A3-C8B5-1B5A658971C4}"/>
              </a:ext>
            </a:extLst>
          </p:cNvPr>
          <p:cNvSpPr txBox="1"/>
          <p:nvPr/>
        </p:nvSpPr>
        <p:spPr>
          <a:xfrm>
            <a:off x="6273800" y="2565400"/>
            <a:ext cx="5130800" cy="244682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health gate: stale / malformed / dropped burst fail-safe</a:t>
            </a:r>
          </a:p>
          <a:p>
            <a:endParaRPr lang="en-US" altLang="ko-KR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max / p95 latency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등 </a:t>
            </a:r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worst-case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지표 추가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EMPTY_SCENE vs SENSOR_UNHEALTHY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분리</a:t>
            </a:r>
          </a:p>
          <a:p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RTOS task / queue / WCET </a:t>
            </a:r>
            <a:r>
              <a:rPr lang="ko-KR" altLang="en-US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</a:t>
            </a:r>
            <a:r>
              <a:rPr lang="en-US" altLang="ko-KR" sz="1700">
                <a:solidFill>
                  <a:srgbClr val="2127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reference skeleton</a:t>
            </a:r>
            <a:endParaRPr lang="ko-KR" altLang="en-US" sz="1700">
              <a:solidFill>
                <a:srgbClr val="2127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740168-A7BD-C97A-F098-E748648813D6}"/>
              </a:ext>
            </a:extLst>
          </p:cNvPr>
          <p:cNvSpPr/>
          <p:nvPr/>
        </p:nvSpPr>
        <p:spPr>
          <a:xfrm>
            <a:off x="609600" y="5969000"/>
            <a:ext cx="10972800" cy="584200"/>
          </a:xfrm>
          <a:prstGeom prst="rect">
            <a:avLst/>
          </a:prstGeom>
          <a:solidFill>
            <a:srgbClr val="13294B"/>
          </a:solidFill>
          <a:ln w="0">
            <a:solidFill>
              <a:srgbClr val="1329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A336FE-41A5-B785-822C-C7C12A5A0C94}"/>
              </a:ext>
            </a:extLst>
          </p:cNvPr>
          <p:cNvSpPr txBox="1"/>
          <p:nvPr/>
        </p:nvSpPr>
        <p:spPr>
          <a:xfrm>
            <a:off x="762000" y="6096000"/>
            <a:ext cx="10668000" cy="58477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최종 메시지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수정이 많았던 이유는 라이브러리가 부족해서가 아니라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장비에서 믿을 수 있는 시스템으로 바꾸는 과정이었기 때문이다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72BB77-6721-8B84-1345-144A090B3CEE}"/>
              </a:ext>
            </a:extLst>
          </p:cNvPr>
          <p:cNvSpPr txBox="1"/>
          <p:nvPr/>
        </p:nvSpPr>
        <p:spPr>
          <a:xfrm>
            <a:off x="457200" y="6629400"/>
            <a:ext cx="6604000" cy="23083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fr-FR" altLang="ko-KR" sz="9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Source: docs/experiment_journal.md, docs/performance_log.md, correction report</a:t>
            </a:r>
            <a:endParaRPr lang="ko-KR" altLang="en-US" sz="9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B33014-9B9B-858F-A35D-FA85827C5327}"/>
              </a:ext>
            </a:extLst>
          </p:cNvPr>
          <p:cNvSpPr txBox="1"/>
          <p:nvPr/>
        </p:nvSpPr>
        <p:spPr>
          <a:xfrm>
            <a:off x="11379200" y="6604000"/>
            <a:ext cx="355600" cy="24622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US" altLang="ko-KR" sz="1000">
                <a:solidFill>
                  <a:srgbClr val="6C778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</a:t>
            </a:r>
            <a:endParaRPr lang="ko-KR" altLang="en-US" sz="1000">
              <a:solidFill>
                <a:srgbClr val="6C778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6265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</Words>
  <Application>Microsoft Office PowerPoint</Application>
  <PresentationFormat>와이드스크린</PresentationFormat>
  <Paragraphs>148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정진수</dc:creator>
  <cp:lastModifiedBy>정진수</cp:lastModifiedBy>
  <cp:revision>1</cp:revision>
  <dcterms:created xsi:type="dcterms:W3CDTF">2026-03-22T08:23:48Z</dcterms:created>
  <dcterms:modified xsi:type="dcterms:W3CDTF">2026-03-22T08:23:48Z</dcterms:modified>
</cp:coreProperties>
</file>