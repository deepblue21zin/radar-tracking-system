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59B9B-A55D-0CE0-8113-A515C3A93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BE4C76-E5D7-2F82-6B7E-AC2374180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B4578B-EB3C-8885-ECEC-CD20E76FE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22872C-3732-EC5C-4EF9-602E1EBF8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5D4A6-1B47-FF5F-C254-FBDA4FAD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133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93E60-5814-6C3F-E8D2-D9FB00845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C4830A-B860-53ED-91B4-96F00DFED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04ED4B-1BE1-24AB-3639-571C3565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9354A-33F2-E362-0441-9BF898212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48432-52D8-2943-5933-D759522E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07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0BA15-146C-934A-DFF3-656317C8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7B4AD5-4972-A6B9-0B9B-EA8F6AC2A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B1A98F-FAD3-80EF-0BDA-C323A704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44375F-3DB5-B996-70BB-FB2EA1470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1C4D6B-0A07-B025-C719-54F50DE8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86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D289B-D9CD-0986-2BC3-F172B9A4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C8C691-7871-4C2A-118C-DD11FCE05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4565C3-7A00-D1A9-9F71-117EF5F09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35FF99-6638-ACA6-7969-1C7EC82C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7B12F4-7AD5-9535-73DC-9FFB6545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ADCDFE-AF10-F971-BF55-B8340701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6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D0CC5-BC46-E214-F275-F14A1C36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9F40D6-2ED1-DD2F-10BF-DE048AB7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BB236F-0DA6-ABC4-7085-3AC3CE356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D15B63-C88A-D7A8-3AE6-A524DEC2D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6C3C5D-F810-1F47-7E55-A2DEA8C9E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51E11E-1DC7-46D0-C4AC-0D409A79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8FCA23-D70F-1371-D365-E0358341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5C581C-D8B1-83A8-5FF7-A35909C8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288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AAD1B-EA11-FA3E-D1C5-09444E86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47CDBE-44B7-9765-106B-C54121F8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95DBA8-5591-6E59-2395-76F89CF2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FBC8AC-3830-4A80-7C28-5396AA03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29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E872E6-1AD6-051E-FF58-CF6147B6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F83F7D-ECB4-F684-92F3-FB49ECFB3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F82883-2C79-2CAC-26CC-3DB45586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68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D7237-4335-7A8D-0083-4B549652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DFAF4B-8A74-684F-C6EB-C3C745E9E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A82060-B85A-DC5B-E1B2-3CCEC3425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3E60B3-A124-5D63-30B5-A41DAE017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BF2B55-1281-B71C-D3F9-BE433E8D9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E29E63-DD85-5E5B-1452-072C9B8C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55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0A760-639F-9EBB-D0EC-C9CD8C62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645E7D-011E-1C7F-E4FD-57CBA5ABD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A2EBEC-7D2A-12F1-8E17-A88B8A450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CFBEF5-6B87-EE6E-87F2-C731C5B64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2747CD-D067-73F8-7218-AE8F9218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808A5F-B588-2AE8-CD26-DE53AD2E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414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22F52-A102-6E58-20C9-548BA765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F9F17A-8327-CA78-CFE7-61BBE2DB9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A292B5-9430-7E77-D5B8-AC90CDA0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123254-D1CD-B25D-F2EC-F39A5E35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8EBCA-C19C-4B92-6E35-23754E6E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940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FC7755-46BA-1D48-9549-96CE98C3B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B45936-3BBC-1F1F-97E0-343465196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44179D-5604-CAE9-50BF-2E21ECD0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B5C0E0-C6FC-39E0-DDA8-1762FAE4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558A4-9715-036A-F05D-D6490F67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509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A52CAD-3958-13C7-4520-99619669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D300F6-2781-4E1E-0657-6C7A698BC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DFC84E-0E55-5DF4-C074-1474DB860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40CA31-56D5-4E2B-9B18-DE11AD71BFE6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CAC420-1534-E5CB-C557-68A94927D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5F9794-C51E-DBF6-7C09-580E06158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7F8A1-E57F-4AA0-A130-2C975B56A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96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0C88DC-E706-B978-0BE0-0716CD053645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312E75-51F7-56DB-C239-E77021632663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8BDAE-2F07-ADF0-38C2-0DCDCC8D5CB6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Radar Tracking System</a:t>
            </a:r>
            <a:endParaRPr lang="ko-KR" altLang="en-US" sz="28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00FC4-39B1-F025-8BFB-6BE1C785F629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 도입 이후 왜 수정이 계속 필요했는가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4D6845-74E1-2EB0-2F41-800D2471A492}"/>
              </a:ext>
            </a:extLst>
          </p:cNvPr>
          <p:cNvSpPr/>
          <p:nvPr/>
        </p:nvSpPr>
        <p:spPr>
          <a:xfrm>
            <a:off x="609600" y="1574800"/>
            <a:ext cx="10972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67059-C197-927F-151E-9170A1BAF4B6}"/>
              </a:ext>
            </a:extLst>
          </p:cNvPr>
          <p:cNvSpPr txBox="1"/>
          <p:nvPr/>
        </p:nvSpPr>
        <p:spPr>
          <a:xfrm>
            <a:off x="889000" y="1854200"/>
            <a:ext cx="10414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줄 요약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B10A8-FF20-65B8-0012-42E9B6EC1A66}"/>
              </a:ext>
            </a:extLst>
          </p:cNvPr>
          <p:cNvSpPr txBox="1"/>
          <p:nvPr/>
        </p:nvSpPr>
        <p:spPr>
          <a:xfrm>
            <a:off x="889000" y="2235200"/>
            <a:ext cx="10414000" cy="73866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알고리즘을 붙인 뒤부터가 오히려 진짜 작업이었다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문제를 보이게 하고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화면과 실제 런타임을 맞추고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설치 자세와 성능 병목을 분리하는 과정이 계속 이어졌다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100" b="1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E521F22-CCF6-AEE1-AC05-27B172A8B026}"/>
              </a:ext>
            </a:extLst>
          </p:cNvPr>
          <p:cNvSpPr/>
          <p:nvPr/>
        </p:nvSpPr>
        <p:spPr>
          <a:xfrm>
            <a:off x="609600" y="3429000"/>
            <a:ext cx="3429000" cy="2387600"/>
          </a:xfrm>
          <a:prstGeom prst="rect">
            <a:avLst/>
          </a:prstGeom>
          <a:solidFill>
            <a:srgbClr val="E9F1FC"/>
          </a:solidFill>
          <a:ln w="15240">
            <a:solidFill>
              <a:srgbClr val="2C6F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1EFBB-AA29-AC61-F2EA-44F09FB8BE86}"/>
              </a:ext>
            </a:extLst>
          </p:cNvPr>
          <p:cNvSpPr txBox="1"/>
          <p:nvPr/>
        </p:nvSpPr>
        <p:spPr>
          <a:xfrm>
            <a:off x="812800" y="3632200"/>
            <a:ext cx="29972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출발점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048935-5C78-00F8-1F19-10EFDE573A37}"/>
              </a:ext>
            </a:extLst>
          </p:cNvPr>
          <p:cNvSpPr txBox="1"/>
          <p:nvPr/>
        </p:nvSpPr>
        <p:spPr>
          <a:xfrm>
            <a:off x="787400" y="4089400"/>
            <a:ext cx="3073400" cy="170816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TLV Parse, Filter, DBSCAN, Kalman, Viewer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구성</a:t>
            </a:r>
          </a:p>
          <a:p>
            <a:endParaRPr lang="ko-KR" altLang="en-US" sz="15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scikit-learn, FilterPy, TI parsing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아이디어 활용</a:t>
            </a:r>
          </a:p>
          <a:p>
            <a:endParaRPr lang="ko-KR" altLang="en-US" sz="15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초기 목표는 빠른 동작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007D40-30F1-8522-FE16-C87ACC40BDB9}"/>
              </a:ext>
            </a:extLst>
          </p:cNvPr>
          <p:cNvSpPr/>
          <p:nvPr/>
        </p:nvSpPr>
        <p:spPr>
          <a:xfrm>
            <a:off x="4368800" y="3429000"/>
            <a:ext cx="3429000" cy="2387600"/>
          </a:xfrm>
          <a:prstGeom prst="rect">
            <a:avLst/>
          </a:prstGeom>
          <a:solidFill>
            <a:srgbClr val="FBECE9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6C1BC-8087-DA87-9D37-A8DCDCCD00C9}"/>
              </a:ext>
            </a:extLst>
          </p:cNvPr>
          <p:cNvSpPr txBox="1"/>
          <p:nvPr/>
        </p:nvSpPr>
        <p:spPr>
          <a:xfrm>
            <a:off x="4572000" y="3632200"/>
            <a:ext cx="29972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바로 드러난 문제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56D8BF-17F1-196C-C71A-90B0C829C139}"/>
              </a:ext>
            </a:extLst>
          </p:cNvPr>
          <p:cNvSpPr txBox="1"/>
          <p:nvPr/>
        </p:nvSpPr>
        <p:spPr>
          <a:xfrm>
            <a:off x="4546600" y="4089400"/>
            <a:ext cx="3073400" cy="132343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parser validity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불안정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viewer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그대로 믿기 어려움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실내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clutter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설치 자세 영향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B7036D-644D-D570-EB6E-014FAD972051}"/>
              </a:ext>
            </a:extLst>
          </p:cNvPr>
          <p:cNvSpPr/>
          <p:nvPr/>
        </p:nvSpPr>
        <p:spPr>
          <a:xfrm>
            <a:off x="8128000" y="3429000"/>
            <a:ext cx="3454400" cy="23876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343DEC-7B2C-1FC4-9FF9-759472053651}"/>
              </a:ext>
            </a:extLst>
          </p:cNvPr>
          <p:cNvSpPr txBox="1"/>
          <p:nvPr/>
        </p:nvSpPr>
        <p:spPr>
          <a:xfrm>
            <a:off x="8331200" y="3632200"/>
            <a:ext cx="30226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발표 핵심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F32B85-4C1C-2B6A-A632-9CDFA6173712}"/>
              </a:ext>
            </a:extLst>
          </p:cNvPr>
          <p:cNvSpPr txBox="1"/>
          <p:nvPr/>
        </p:nvSpPr>
        <p:spPr>
          <a:xfrm>
            <a:off x="8305800" y="4089400"/>
            <a:ext cx="3098800" cy="170816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라이브러리는 알고리즘 블록만 제공</a:t>
            </a:r>
          </a:p>
          <a:p>
            <a:endParaRPr lang="ko-KR" altLang="en-US" sz="15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장비에서는 시스템 정합성이 먼저 중요</a:t>
            </a:r>
          </a:p>
          <a:p>
            <a:endParaRPr lang="ko-KR" altLang="en-US" sz="15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수정이 반복되었다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D264E6-AC71-87ED-AB53-7E57F4952550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728392-12DE-489B-AA48-8CEBC123E87F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1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3D79C47-7378-F2BC-DE0F-4841744C9FE7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E58918-5387-AE93-8A99-EE1BEB1170FD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B6A58-D1D7-6512-BFE3-FCFDCA83D2D2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왜 수정이 반복되었나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89CF5-0C83-3743-FACF-9CBCAAC1D100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문제는 한 군데가 아니라 네 축에서 동시에 나왔다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601FD9-2F53-1736-37E0-78A1111BE709}"/>
              </a:ext>
            </a:extLst>
          </p:cNvPr>
          <p:cNvSpPr/>
          <p:nvPr/>
        </p:nvSpPr>
        <p:spPr>
          <a:xfrm>
            <a:off x="660400" y="1676400"/>
            <a:ext cx="5232400" cy="1905000"/>
          </a:xfrm>
          <a:prstGeom prst="rect">
            <a:avLst/>
          </a:prstGeom>
          <a:solidFill>
            <a:srgbClr val="E9F1FC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D54CC-3932-0144-B3BE-BE395F7C7797}"/>
              </a:ext>
            </a:extLst>
          </p:cNvPr>
          <p:cNvSpPr txBox="1"/>
          <p:nvPr/>
        </p:nvSpPr>
        <p:spPr>
          <a:xfrm>
            <a:off x="863600" y="18796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환경 재현성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D8C3EF-B316-8858-BD28-F2C3B5092F74}"/>
              </a:ext>
            </a:extLst>
          </p:cNvPr>
          <p:cNvSpPr txBox="1"/>
          <p:nvPr/>
        </p:nvSpPr>
        <p:spPr>
          <a:xfrm>
            <a:off x="863600" y="23368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requirements, import, cfg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응답이 정리되지 않으면 팀원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PC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같은 문제가 재현되지 않았다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E7B285-CE31-14C5-D79C-36F2991BD498}"/>
              </a:ext>
            </a:extLst>
          </p:cNvPr>
          <p:cNvSpPr/>
          <p:nvPr/>
        </p:nvSpPr>
        <p:spPr>
          <a:xfrm>
            <a:off x="6299200" y="1676400"/>
            <a:ext cx="5232400" cy="1905000"/>
          </a:xfrm>
          <a:prstGeom prst="rect">
            <a:avLst/>
          </a:prstGeom>
          <a:solidFill>
            <a:srgbClr val="FBECE9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A725BF-7806-9C8B-04D3-B091A1CBF05F}"/>
              </a:ext>
            </a:extLst>
          </p:cNvPr>
          <p:cNvSpPr txBox="1"/>
          <p:nvPr/>
        </p:nvSpPr>
        <p:spPr>
          <a:xfrm>
            <a:off x="6502400" y="18796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Parser validity</a:t>
            </a:r>
            <a:endParaRPr lang="ko-KR" altLang="en-US" sz="2000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1F1F8A-3116-DC86-B91E-1AF70094120A}"/>
              </a:ext>
            </a:extLst>
          </p:cNvPr>
          <p:cNvSpPr txBox="1"/>
          <p:nvPr/>
        </p:nvSpPr>
        <p:spPr>
          <a:xfrm>
            <a:off x="6502400" y="23368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malformed frame, resync, dropped frame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분리해 보지 않으면 잘못된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point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 정상처럼 보였다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6EDD5F-E45C-D7EA-2AFB-7DE2EE0D3AB5}"/>
              </a:ext>
            </a:extLst>
          </p:cNvPr>
          <p:cNvSpPr/>
          <p:nvPr/>
        </p:nvSpPr>
        <p:spPr>
          <a:xfrm>
            <a:off x="660400" y="4013200"/>
            <a:ext cx="5232400" cy="19050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49921-71E5-1DA4-02DB-22DC42A0EC00}"/>
              </a:ext>
            </a:extLst>
          </p:cNvPr>
          <p:cNvSpPr txBox="1"/>
          <p:nvPr/>
        </p:nvSpPr>
        <p:spPr>
          <a:xfrm>
            <a:off x="863600" y="42164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Viewer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신뢰성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20E402-88E6-37C7-D4E6-0AD2F99E1429}"/>
              </a:ext>
            </a:extLst>
          </p:cNvPr>
          <p:cNvSpPr txBox="1"/>
          <p:nvPr/>
        </p:nvSpPr>
        <p:spPr>
          <a:xfrm>
            <a:off x="863600" y="46736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viewer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runtime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같은 계산 경로를 타지 않으면 화면을 기준으로 잘못 튜닝하게 된다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21B326-1FFB-86B8-BCF6-B3395FBE2358}"/>
              </a:ext>
            </a:extLst>
          </p:cNvPr>
          <p:cNvSpPr/>
          <p:nvPr/>
        </p:nvSpPr>
        <p:spPr>
          <a:xfrm>
            <a:off x="6299200" y="4013200"/>
            <a:ext cx="5232400" cy="19050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48C115-50EA-7913-6A55-F85F441A9E55}"/>
              </a:ext>
            </a:extLst>
          </p:cNvPr>
          <p:cNvSpPr txBox="1"/>
          <p:nvPr/>
        </p:nvSpPr>
        <p:spPr>
          <a:xfrm>
            <a:off x="6502400" y="42164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실내 설치 조건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AA1EE-5DC0-4477-B7B8-B6E0F9273438}"/>
              </a:ext>
            </a:extLst>
          </p:cNvPr>
          <p:cNvSpPr txBox="1"/>
          <p:nvPr/>
        </p:nvSpPr>
        <p:spPr>
          <a:xfrm>
            <a:off x="6502400" y="46736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yaw, pitch, height, range gate, clutter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continuity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split track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직접 영향을 줬다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9B5B21-2473-A70E-3272-3DF52D2E21BF}"/>
              </a:ext>
            </a:extLst>
          </p:cNvPr>
          <p:cNvSpPr txBox="1"/>
          <p:nvPr/>
        </p:nvSpPr>
        <p:spPr>
          <a:xfrm>
            <a:off x="711200" y="6350000"/>
            <a:ext cx="107188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정리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수정은 “코드가 틀려서”가 아니라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 위에 실제 장비용 관측 체계와 운영 구조를 올리는 과정이었다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F1E0C4-B549-7EAB-2A3E-3D3A14071847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80D6DE-1830-7419-C15F-E54E4B00C8DF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6761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E9CC38-C527-CDF5-F769-5D7A36F57C06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8D0119-FFEB-0CEC-C5F6-227FFF1F15EE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7A33A-C4C9-E712-6427-AC9C49B8D1D7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 흐름 타임라인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00A05-581A-EA90-0D98-17745F28E737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03-15 -&gt; 03-19</a:t>
            </a:r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갈수록 알고리즘보다 구조와 검증 체계 쪽으로 이동했다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0F2754-C7EF-BC60-68E9-226EFF9940A6}"/>
              </a:ext>
            </a:extLst>
          </p:cNvPr>
          <p:cNvSpPr/>
          <p:nvPr/>
        </p:nvSpPr>
        <p:spPr>
          <a:xfrm>
            <a:off x="1143000" y="3276600"/>
            <a:ext cx="9906000" cy="76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0AE41E-6B98-2ED7-3AE4-969CF76E91BB}"/>
              </a:ext>
            </a:extLst>
          </p:cNvPr>
          <p:cNvSpPr/>
          <p:nvPr/>
        </p:nvSpPr>
        <p:spPr>
          <a:xfrm>
            <a:off x="1270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0B40E-78F5-A085-F002-F6AFF89DFD93}"/>
              </a:ext>
            </a:extLst>
          </p:cNvPr>
          <p:cNvSpPr txBox="1"/>
          <p:nvPr/>
        </p:nvSpPr>
        <p:spPr>
          <a:xfrm>
            <a:off x="1143000" y="2641600"/>
            <a:ext cx="1066800" cy="33855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03-15</a:t>
            </a:r>
            <a:endParaRPr lang="ko-KR" altLang="en-US" sz="1600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A480B2-C0E2-A3E3-81EE-260743EB61B2}"/>
              </a:ext>
            </a:extLst>
          </p:cNvPr>
          <p:cNvSpPr/>
          <p:nvPr/>
        </p:nvSpPr>
        <p:spPr>
          <a:xfrm>
            <a:off x="660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CDD86-7123-0482-C37D-E377F2144292}"/>
              </a:ext>
            </a:extLst>
          </p:cNvPr>
          <p:cNvSpPr txBox="1"/>
          <p:nvPr/>
        </p:nvSpPr>
        <p:spPr>
          <a:xfrm>
            <a:off x="787400" y="3987800"/>
            <a:ext cx="12192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관측 가능성 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00DD98-5B1D-A3B6-C022-430393DC99E8}"/>
              </a:ext>
            </a:extLst>
          </p:cNvPr>
          <p:cNvSpPr txBox="1"/>
          <p:nvPr/>
        </p:nvSpPr>
        <p:spPr>
          <a:xfrm>
            <a:off x="787400" y="4368800"/>
            <a:ext cx="1219200" cy="101566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requirements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정리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\ncfg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 로그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\nType1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누락 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fail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5AED0C-0713-2F04-ED05-91F890FD729C}"/>
              </a:ext>
            </a:extLst>
          </p:cNvPr>
          <p:cNvSpPr/>
          <p:nvPr/>
        </p:nvSpPr>
        <p:spPr>
          <a:xfrm>
            <a:off x="3302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690898-CD10-4F78-3805-783B463345DB}"/>
              </a:ext>
            </a:extLst>
          </p:cNvPr>
          <p:cNvSpPr txBox="1"/>
          <p:nvPr/>
        </p:nvSpPr>
        <p:spPr>
          <a:xfrm>
            <a:off x="3175000" y="2641600"/>
            <a:ext cx="10668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D424AB-47B5-8700-2F5E-C672A6292459}"/>
              </a:ext>
            </a:extLst>
          </p:cNvPr>
          <p:cNvSpPr/>
          <p:nvPr/>
        </p:nvSpPr>
        <p:spPr>
          <a:xfrm>
            <a:off x="2692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72251-FF43-83F0-7FA7-6BCD7D80DEB0}"/>
              </a:ext>
            </a:extLst>
          </p:cNvPr>
          <p:cNvSpPr txBox="1"/>
          <p:nvPr/>
        </p:nvSpPr>
        <p:spPr>
          <a:xfrm>
            <a:off x="2819400" y="3987800"/>
            <a:ext cx="1219200" cy="32316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필터 튜닝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D5B0CE-FFCF-98B0-020A-4323991FC0B7}"/>
              </a:ext>
            </a:extLst>
          </p:cNvPr>
          <p:cNvSpPr txBox="1"/>
          <p:nvPr/>
        </p:nvSpPr>
        <p:spPr>
          <a:xfrm>
            <a:off x="2819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keepout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조정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\nmax_range\nz gate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40E7AE-8A9D-05B0-79B1-D73BE419D327}"/>
              </a:ext>
            </a:extLst>
          </p:cNvPr>
          <p:cNvSpPr/>
          <p:nvPr/>
        </p:nvSpPr>
        <p:spPr>
          <a:xfrm>
            <a:off x="5334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CB5D8-BB59-A2B3-7208-9C5F4875DA4F}"/>
              </a:ext>
            </a:extLst>
          </p:cNvPr>
          <p:cNvSpPr txBox="1"/>
          <p:nvPr/>
        </p:nvSpPr>
        <p:spPr>
          <a:xfrm>
            <a:off x="5207000" y="2641600"/>
            <a:ext cx="10668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오후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4C3ED1-0424-FAED-3644-ACBA9AA7BEA5}"/>
              </a:ext>
            </a:extLst>
          </p:cNvPr>
          <p:cNvSpPr/>
          <p:nvPr/>
        </p:nvSpPr>
        <p:spPr>
          <a:xfrm>
            <a:off x="4724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23CD1-8357-9C30-BE92-B11E96AEFA59}"/>
              </a:ext>
            </a:extLst>
          </p:cNvPr>
          <p:cNvSpPr txBox="1"/>
          <p:nvPr/>
        </p:nvSpPr>
        <p:spPr>
          <a:xfrm>
            <a:off x="4851400" y="3987800"/>
            <a:ext cx="1219200" cy="32316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분리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6393CE-77AE-3D3B-D1E3-DAF6667E5AE7}"/>
              </a:ext>
            </a:extLst>
          </p:cNvPr>
          <p:cNvSpPr txBox="1"/>
          <p:nvPr/>
        </p:nvSpPr>
        <p:spPr>
          <a:xfrm>
            <a:off x="4851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runtime_pipeline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공용 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params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496727-493D-DA1A-B35E-D3D24203DB51}"/>
              </a:ext>
            </a:extLst>
          </p:cNvPr>
          <p:cNvSpPr/>
          <p:nvPr/>
        </p:nvSpPr>
        <p:spPr>
          <a:xfrm>
            <a:off x="7366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EA31C8-6FE5-A294-9D02-59D60F1D0BC0}"/>
              </a:ext>
            </a:extLst>
          </p:cNvPr>
          <p:cNvSpPr txBox="1"/>
          <p:nvPr/>
        </p:nvSpPr>
        <p:spPr>
          <a:xfrm>
            <a:off x="7239000" y="2641600"/>
            <a:ext cx="1066800" cy="33855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677311-E3BB-17CC-4FFC-EE499A08DDBE}"/>
              </a:ext>
            </a:extLst>
          </p:cNvPr>
          <p:cNvSpPr/>
          <p:nvPr/>
        </p:nvSpPr>
        <p:spPr>
          <a:xfrm>
            <a:off x="6756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30EC55-E6CF-5321-56AB-6F56A565A081}"/>
              </a:ext>
            </a:extLst>
          </p:cNvPr>
          <p:cNvSpPr txBox="1"/>
          <p:nvPr/>
        </p:nvSpPr>
        <p:spPr>
          <a:xfrm>
            <a:off x="6883400" y="3987800"/>
            <a:ext cx="12192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viewer </a:t>
            </a:r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38710D-29E5-2587-2F70-3FE23FB66CD7}"/>
              </a:ext>
            </a:extLst>
          </p:cNvPr>
          <p:cNvSpPr txBox="1"/>
          <p:nvPr/>
        </p:nvSpPr>
        <p:spPr>
          <a:xfrm>
            <a:off x="6883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shared path\ncallback renderer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86EE4B-C273-2D12-EF61-76E15A1F2D95}"/>
              </a:ext>
            </a:extLst>
          </p:cNvPr>
          <p:cNvSpPr/>
          <p:nvPr/>
        </p:nvSpPr>
        <p:spPr>
          <a:xfrm>
            <a:off x="9398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384809-D028-1E7A-51B9-0E838BF8A680}"/>
              </a:ext>
            </a:extLst>
          </p:cNvPr>
          <p:cNvSpPr txBox="1"/>
          <p:nvPr/>
        </p:nvSpPr>
        <p:spPr>
          <a:xfrm>
            <a:off x="9271000" y="2641600"/>
            <a:ext cx="1066800" cy="33855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03-19</a:t>
            </a:r>
            <a:endParaRPr lang="ko-KR" altLang="en-US" sz="1600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3DBAB71-1900-C788-CF4A-652D16180C2E}"/>
              </a:ext>
            </a:extLst>
          </p:cNvPr>
          <p:cNvSpPr/>
          <p:nvPr/>
        </p:nvSpPr>
        <p:spPr>
          <a:xfrm>
            <a:off x="8788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7217AF-DFB8-E2AD-FC4D-A0C38E5B003C}"/>
              </a:ext>
            </a:extLst>
          </p:cNvPr>
          <p:cNvSpPr txBox="1"/>
          <p:nvPr/>
        </p:nvSpPr>
        <p:spPr>
          <a:xfrm>
            <a:off x="8915400" y="3987800"/>
            <a:ext cx="12192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좌표</a:t>
            </a:r>
            <a:r>
              <a:rPr lang="en-US" altLang="ko-KR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분리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FBECB3-60C9-6CB6-2710-8B66D455B598}"/>
              </a:ext>
            </a:extLst>
          </p:cNvPr>
          <p:cNvSpPr txBox="1"/>
          <p:nvPr/>
        </p:nvSpPr>
        <p:spPr>
          <a:xfrm>
            <a:off x="8915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yaw/pitch/height\nworker/draw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8AEA7B-AE24-6A36-9510-7859A8950E9E}"/>
              </a:ext>
            </a:extLst>
          </p:cNvPr>
          <p:cNvSpPr txBox="1"/>
          <p:nvPr/>
        </p:nvSpPr>
        <p:spPr>
          <a:xfrm>
            <a:off x="711200" y="6070600"/>
            <a:ext cx="106680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변화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“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알고리즘이 있냐”에서 끝나지 않고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runtime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정합성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시각화 신뢰성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설치 좌표 보정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리포트까지 확장됐다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7C95CD-74B6-6997-6F2F-8D0423B75A96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913F3A-41E3-FB19-A75C-4F2DF477F553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3962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C869FD0-6B50-76C4-5E2F-524BCED8BB57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5BB2FA-6F17-3BAA-6428-5F0CCDF297AB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0AF5B-C504-6D10-0C9E-0A18CA40B5B4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무엇을 어떻게 고쳤나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5B892-F992-E47C-0821-50560F452425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변경은 크게 세 단계로 설명하는 것이 발표에 가장 안정적이다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C9551C-FD3F-F1D4-1754-E13FBB9EA7AE}"/>
              </a:ext>
            </a:extLst>
          </p:cNvPr>
          <p:cNvSpPr/>
          <p:nvPr/>
        </p:nvSpPr>
        <p:spPr>
          <a:xfrm>
            <a:off x="609600" y="1778000"/>
            <a:ext cx="3429000" cy="3810000"/>
          </a:xfrm>
          <a:prstGeom prst="rect">
            <a:avLst/>
          </a:prstGeom>
          <a:solidFill>
            <a:srgbClr val="E9F1FC"/>
          </a:solidFill>
          <a:ln w="15240">
            <a:solidFill>
              <a:srgbClr val="2C6F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336EB-0067-8E67-ECF9-9922C87D105B}"/>
              </a:ext>
            </a:extLst>
          </p:cNvPr>
          <p:cNvSpPr txBox="1"/>
          <p:nvPr/>
        </p:nvSpPr>
        <p:spPr>
          <a:xfrm>
            <a:off x="812800" y="2006600"/>
            <a:ext cx="29972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실패를 보이게 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FB2A4-1884-3DC3-F07A-21112E8B8ADE}"/>
              </a:ext>
            </a:extLst>
          </p:cNvPr>
          <p:cNvSpPr txBox="1"/>
          <p:nvPr/>
        </p:nvSpPr>
        <p:spPr>
          <a:xfrm>
            <a:off x="787400" y="2514600"/>
            <a:ext cx="3073400" cy="23083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cfg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 로그 추가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Type1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누락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frame fail</a:t>
            </a:r>
          </a:p>
          <a:p>
            <a:endParaRPr lang="en-US" altLang="ko-KR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error log / correction report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누적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문제를 재현 가능한 상태로 전환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6472BB-C644-2232-8EF4-CAF4ACCBC7BD}"/>
              </a:ext>
            </a:extLst>
          </p:cNvPr>
          <p:cNvSpPr/>
          <p:nvPr/>
        </p:nvSpPr>
        <p:spPr>
          <a:xfrm>
            <a:off x="4368800" y="1778000"/>
            <a:ext cx="3429000" cy="38100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B91E2-A064-7318-3578-DAECA5DDC859}"/>
              </a:ext>
            </a:extLst>
          </p:cNvPr>
          <p:cNvSpPr txBox="1"/>
          <p:nvPr/>
        </p:nvSpPr>
        <p:spPr>
          <a:xfrm>
            <a:off x="4572000" y="2006600"/>
            <a:ext cx="2997200" cy="707886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2. viewer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runtime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89C423-B8CC-07E7-ED96-372AF85F3EBF}"/>
              </a:ext>
            </a:extLst>
          </p:cNvPr>
          <p:cNvSpPr txBox="1"/>
          <p:nvPr/>
        </p:nvSpPr>
        <p:spPr>
          <a:xfrm>
            <a:off x="4546600" y="2514600"/>
            <a:ext cx="3073400" cy="23083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motion cloud / trail / overlay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추가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shared processing path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callback renderer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재구성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화면과 로그를 같은 근거로 비교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8B727A-1952-0188-B00B-5B25062E6917}"/>
              </a:ext>
            </a:extLst>
          </p:cNvPr>
          <p:cNvSpPr/>
          <p:nvPr/>
        </p:nvSpPr>
        <p:spPr>
          <a:xfrm>
            <a:off x="8128000" y="1778000"/>
            <a:ext cx="3454400" cy="38100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AAFAA6-9803-DFE9-54AF-096F8C90D1BB}"/>
              </a:ext>
            </a:extLst>
          </p:cNvPr>
          <p:cNvSpPr txBox="1"/>
          <p:nvPr/>
        </p:nvSpPr>
        <p:spPr>
          <a:xfrm>
            <a:off x="8331200" y="2006600"/>
            <a:ext cx="30226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3.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설치</a:t>
            </a:r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왜곡 분리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19FD4-9040-94AD-B4E8-E1A7DFDB54F6}"/>
              </a:ext>
            </a:extLst>
          </p:cNvPr>
          <p:cNvSpPr txBox="1"/>
          <p:nvPr/>
        </p:nvSpPr>
        <p:spPr>
          <a:xfrm>
            <a:off x="8305800" y="2514600"/>
            <a:ext cx="3098800" cy="23083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sensor yaw / pitch / height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world coordinate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정렬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worker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logging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병목과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병목 분리 측정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3E9DB8-1705-1300-DCAD-74C9A9AB30B8}"/>
              </a:ext>
            </a:extLst>
          </p:cNvPr>
          <p:cNvSpPr txBox="1"/>
          <p:nvPr/>
        </p:nvSpPr>
        <p:spPr>
          <a:xfrm>
            <a:off x="660400" y="6019800"/>
            <a:ext cx="10922000" cy="38100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즉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수정은 기능 추가라기보다 “무엇을 믿어야 하는지”를 만드는 작업이었다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244122-EA2A-8441-4659-32E87B8B2D9D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BD9551-A792-89C9-CA55-1AAD2E708DE5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6101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95AE75-BD7A-1AE2-9930-3AE7E0013A6B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FCB06B-118F-5685-F08A-0755E7068F84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7448E-FD3D-8A40-7F2F-879FA80B7BE3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로그로 본 개선 근거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25306-909D-51A7-8D41-F88FCA9E8C0A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문제가 사라진 것이 아니라</a:t>
            </a:r>
            <a:r>
              <a:rPr lang="en-US" altLang="ko-KR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병목이 점점 더 분리되어 보이게 되었다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755BED-B835-D230-C0B3-F33D7A0A22F5}"/>
              </a:ext>
            </a:extLst>
          </p:cNvPr>
          <p:cNvSpPr/>
          <p:nvPr/>
        </p:nvSpPr>
        <p:spPr>
          <a:xfrm>
            <a:off x="660400" y="1752600"/>
            <a:ext cx="3276600" cy="1981200"/>
          </a:xfrm>
          <a:prstGeom prst="rect">
            <a:avLst/>
          </a:prstGeom>
          <a:solidFill>
            <a:srgbClr val="FBECE9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ACB1BC-C890-4084-5EC6-8283343067A1}"/>
              </a:ext>
            </a:extLst>
          </p:cNvPr>
          <p:cNvSpPr txBox="1"/>
          <p:nvPr/>
        </p:nvSpPr>
        <p:spPr>
          <a:xfrm>
            <a:off x="863600" y="1981200"/>
            <a:ext cx="28448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03-15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초기 상태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7C498C-A5C3-C5BE-20E1-8AA23EA79D49}"/>
              </a:ext>
            </a:extLst>
          </p:cNvPr>
          <p:cNvSpPr txBox="1"/>
          <p:nvPr/>
        </p:nvSpPr>
        <p:spPr>
          <a:xfrm>
            <a:off x="863600" y="2489200"/>
            <a:ext cx="2844800" cy="170816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1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FPS 0.158</a:t>
            </a:r>
          </a:p>
          <a:p>
            <a:r>
              <a:rPr lang="en-US" altLang="ko-KR" sz="21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avg pipeline 6311 ms</a:t>
            </a:r>
          </a:p>
          <a:p>
            <a:r>
              <a:rPr lang="ko-KR" altLang="en-US" sz="21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사실상 </a:t>
            </a:r>
            <a:r>
              <a:rPr lang="en-US" altLang="ko-KR" sz="21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usable </a:t>
            </a:r>
            <a:r>
              <a:rPr lang="ko-KR" altLang="en-US" sz="21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하지 않음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25DBBB-2F35-673B-E1A2-0FF8CFA7F143}"/>
              </a:ext>
            </a:extLst>
          </p:cNvPr>
          <p:cNvSpPr/>
          <p:nvPr/>
        </p:nvSpPr>
        <p:spPr>
          <a:xfrm>
            <a:off x="4470400" y="1752600"/>
            <a:ext cx="3276600" cy="19812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92A5E-08C6-033B-5D5E-5662D04536C7}"/>
              </a:ext>
            </a:extLst>
          </p:cNvPr>
          <p:cNvSpPr txBox="1"/>
          <p:nvPr/>
        </p:nvSpPr>
        <p:spPr>
          <a:xfrm>
            <a:off x="4673600" y="1981200"/>
            <a:ext cx="28448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중간 상태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739741-F9CB-DCD9-5DE7-053F3ECF4E38}"/>
              </a:ext>
            </a:extLst>
          </p:cNvPr>
          <p:cNvSpPr txBox="1"/>
          <p:nvPr/>
        </p:nvSpPr>
        <p:spPr>
          <a:xfrm>
            <a:off x="4673600" y="2489200"/>
            <a:ext cx="2844800" cy="106182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FPS 9.36</a:t>
            </a:r>
          </a:p>
          <a:p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filter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동작</a:t>
            </a:r>
          </a:p>
          <a:p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zero-track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많음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5FC3CD-A99C-CDF6-9CC4-03F7585177DC}"/>
              </a:ext>
            </a:extLst>
          </p:cNvPr>
          <p:cNvSpPr/>
          <p:nvPr/>
        </p:nvSpPr>
        <p:spPr>
          <a:xfrm>
            <a:off x="8280400" y="1752600"/>
            <a:ext cx="3276600" cy="19812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4CE27-AE45-5D74-3E82-0A86BC76182A}"/>
              </a:ext>
            </a:extLst>
          </p:cNvPr>
          <p:cNvSpPr txBox="1"/>
          <p:nvPr/>
        </p:nvSpPr>
        <p:spPr>
          <a:xfrm>
            <a:off x="8483600" y="1981200"/>
            <a:ext cx="28448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03-19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최근 상태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069F2A-99CF-ED2F-C6E7-6CBD120121B8}"/>
              </a:ext>
            </a:extLst>
          </p:cNvPr>
          <p:cNvSpPr txBox="1"/>
          <p:nvPr/>
        </p:nvSpPr>
        <p:spPr>
          <a:xfrm>
            <a:off x="8483600" y="2489200"/>
            <a:ext cx="2844800" cy="106182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1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FPS 9.87</a:t>
            </a:r>
          </a:p>
          <a:p>
            <a:r>
              <a:rPr lang="en-US" altLang="ko-KR" sz="21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parser health </a:t>
            </a:r>
            <a:r>
              <a:rPr lang="ko-KR" altLang="en-US" sz="21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개선</a:t>
            </a:r>
          </a:p>
          <a:p>
            <a:r>
              <a:rPr lang="ko-KR" altLang="en-US" sz="21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실사용 가능성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EE8CFA-387A-791B-F29D-C7DDDE08EFE6}"/>
              </a:ext>
            </a:extLst>
          </p:cNvPr>
          <p:cNvSpPr/>
          <p:nvPr/>
        </p:nvSpPr>
        <p:spPr>
          <a:xfrm>
            <a:off x="660400" y="4140200"/>
            <a:ext cx="10896600" cy="2159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4E48D9-7935-B18B-DADC-5BF9C77DE8F5}"/>
              </a:ext>
            </a:extLst>
          </p:cNvPr>
          <p:cNvSpPr txBox="1"/>
          <p:nvPr/>
        </p:nvSpPr>
        <p:spPr>
          <a:xfrm>
            <a:off x="863600" y="4368800"/>
            <a:ext cx="3810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최근 로그 해석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1154DF-7D83-E459-F655-CCCA1575E2BF}"/>
              </a:ext>
            </a:extLst>
          </p:cNvPr>
          <p:cNvSpPr txBox="1"/>
          <p:nvPr/>
        </p:nvSpPr>
        <p:spPr>
          <a:xfrm>
            <a:off x="838200" y="4851400"/>
            <a:ext cx="10490200" cy="132343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20260319_023912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Avg FPS 9.915, parse_fail 3, resync 25, dropped 5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health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확실히 좋아졌다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남은 문제는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zero-track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multi-track split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이제는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range gate / ROI / continuity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최적화 단계다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즉 “전체가 안 됨” 단계는 벗어났고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남은 병목이 더 구체적으로 보이기 시작했다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634885-5F2D-2C24-BD8C-269D3AE123D0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A2C92-0BC2-6BAD-014A-5626553D188D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122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9906ED0-FD1B-B506-AB34-548EA29FC6D9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7A0612-A275-FA23-1439-16E1AA263DE8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15D41-C805-922F-0FC5-4797D0499196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가져온 것과 직접 기여한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3D796-D13F-B960-4D8F-9FE46E43E9C8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교수님께는 이 구분을 분명히 보여주는 것이 가장 중요하다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F3230C-5574-CC60-3F58-3ACC9177D268}"/>
              </a:ext>
            </a:extLst>
          </p:cNvPr>
          <p:cNvSpPr/>
          <p:nvPr/>
        </p:nvSpPr>
        <p:spPr>
          <a:xfrm>
            <a:off x="609600" y="1803400"/>
            <a:ext cx="3632200" cy="3708400"/>
          </a:xfrm>
          <a:prstGeom prst="rect">
            <a:avLst/>
          </a:prstGeom>
          <a:solidFill>
            <a:srgbClr val="E9F1FC"/>
          </a:solidFill>
          <a:ln w="15240">
            <a:solidFill>
              <a:srgbClr val="2C6F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2DDC0-D53C-E95F-B957-B4DC6CEFBA67}"/>
              </a:ext>
            </a:extLst>
          </p:cNvPr>
          <p:cNvSpPr txBox="1"/>
          <p:nvPr/>
        </p:nvSpPr>
        <p:spPr>
          <a:xfrm>
            <a:off x="812800" y="2032000"/>
            <a:ext cx="32004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가져온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A96CC-15EF-515E-BFE1-3C3B2846860C}"/>
              </a:ext>
            </a:extLst>
          </p:cNvPr>
          <p:cNvSpPr txBox="1"/>
          <p:nvPr/>
        </p:nvSpPr>
        <p:spPr>
          <a:xfrm>
            <a:off x="787400" y="2540000"/>
            <a:ext cx="3276600" cy="192360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DBSCAN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알고리즘 구현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Kalman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수학 기반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TI TLV parsing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아이디어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시각화 도구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9B5B5F-4A94-2D30-E9E5-4CCB12FC4782}"/>
              </a:ext>
            </a:extLst>
          </p:cNvPr>
          <p:cNvSpPr/>
          <p:nvPr/>
        </p:nvSpPr>
        <p:spPr>
          <a:xfrm>
            <a:off x="4521200" y="1803400"/>
            <a:ext cx="7061200" cy="37084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4A728D-C9EE-710E-867A-D4D28103EDFE}"/>
              </a:ext>
            </a:extLst>
          </p:cNvPr>
          <p:cNvSpPr txBox="1"/>
          <p:nvPr/>
        </p:nvSpPr>
        <p:spPr>
          <a:xfrm>
            <a:off x="4724400" y="2032000"/>
            <a:ext cx="66294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직접 기여한 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FFEE1E-6D72-7D85-3968-4E7D25EB0CB4}"/>
              </a:ext>
            </a:extLst>
          </p:cNvPr>
          <p:cNvSpPr txBox="1"/>
          <p:nvPr/>
        </p:nvSpPr>
        <p:spPr>
          <a:xfrm>
            <a:off x="4699000" y="2540000"/>
            <a:ext cx="6705600" cy="280076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환경 재현성과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cfg bring-up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체계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parser validity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정책과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health logging</a:t>
            </a:r>
          </a:p>
          <a:p>
            <a:endParaRPr lang="en-US" altLang="ko-KR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shared runtime pipeline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과 공용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params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yaw / pitch / height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기반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world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viewer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재설계와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리포트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로그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REQ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문서 패키지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D3C378-16AC-72FC-5C24-D72F692AAA80}"/>
              </a:ext>
            </a:extLst>
          </p:cNvPr>
          <p:cNvSpPr txBox="1"/>
          <p:nvPr/>
        </p:nvSpPr>
        <p:spPr>
          <a:xfrm>
            <a:off x="660400" y="6019800"/>
            <a:ext cx="10871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발표 결론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라이브러리를 “붙였다”가 아니라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 위에 신뢰 가능한 레이더 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SW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운영 구조를 직접 설계했다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5966EC-D454-64E9-CE20-EE60AA3F7C71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7EABEE-ACFD-CE2B-E771-5EDF8445CB08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7479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04EA4B-18D4-8372-C472-122013EA9275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830D76-5C79-AA81-7E9B-05414DD86C8B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E27D6-6116-4159-9158-60C2E8E3B644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상태와 다음 단계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5A9BF-4162-A280-9075-0880859D2CD1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무엇이 해결됐고</a:t>
            </a:r>
            <a:r>
              <a:rPr lang="en-US" altLang="ko-KR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무엇이 앞으로 남았는지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521D73-9BFB-B176-B2AD-C49A3A5096F5}"/>
              </a:ext>
            </a:extLst>
          </p:cNvPr>
          <p:cNvSpPr/>
          <p:nvPr/>
        </p:nvSpPr>
        <p:spPr>
          <a:xfrm>
            <a:off x="609600" y="1828800"/>
            <a:ext cx="5130800" cy="37846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4E021-FE95-7ECD-4614-C9F63F756644}"/>
              </a:ext>
            </a:extLst>
          </p:cNvPr>
          <p:cNvSpPr txBox="1"/>
          <p:nvPr/>
        </p:nvSpPr>
        <p:spPr>
          <a:xfrm>
            <a:off x="812800" y="2057400"/>
            <a:ext cx="4699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확보한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1143D-4AD5-EF85-C27F-4390C0368F1A}"/>
              </a:ext>
            </a:extLst>
          </p:cNvPr>
          <p:cNvSpPr txBox="1"/>
          <p:nvPr/>
        </p:nvSpPr>
        <p:spPr>
          <a:xfrm>
            <a:off x="787400" y="2565400"/>
            <a:ext cx="4775200" cy="192360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shared runtime pipeline</a:t>
            </a:r>
          </a:p>
          <a:p>
            <a:endParaRPr lang="en-US" altLang="ko-KR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viewer/runtime truth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world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보정과 </a:t>
            </a:r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실험 리포트와 요구사항 문서화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050B63-52E8-1265-57AA-8085970C609C}"/>
              </a:ext>
            </a:extLst>
          </p:cNvPr>
          <p:cNvSpPr/>
          <p:nvPr/>
        </p:nvSpPr>
        <p:spPr>
          <a:xfrm>
            <a:off x="6096000" y="1828800"/>
            <a:ext cx="5486400" cy="37846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90C70B-AE88-02D7-B1C7-D2190723B856}"/>
              </a:ext>
            </a:extLst>
          </p:cNvPr>
          <p:cNvSpPr txBox="1"/>
          <p:nvPr/>
        </p:nvSpPr>
        <p:spPr>
          <a:xfrm>
            <a:off x="6299200" y="2057400"/>
            <a:ext cx="50546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다음 단계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E5D48-6898-859A-A562-D851B574D1AD}"/>
              </a:ext>
            </a:extLst>
          </p:cNvPr>
          <p:cNvSpPr txBox="1"/>
          <p:nvPr/>
        </p:nvSpPr>
        <p:spPr>
          <a:xfrm>
            <a:off x="6273800" y="2565400"/>
            <a:ext cx="5130800" cy="24468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health gate: stale / malformed / dropped burst fail-safe</a:t>
            </a:r>
          </a:p>
          <a:p>
            <a:endParaRPr lang="en-US" altLang="ko-KR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max / p95 latency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등 </a:t>
            </a:r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worst-case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지표 추가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EMPTY_SCENE vs SENSOR_UNHEALTHY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RTOS task / queue / WCET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</a:t>
            </a:r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reference skeleton</a:t>
            </a:r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53B275E-3CFF-B252-5E93-64534947FEEF}"/>
              </a:ext>
            </a:extLst>
          </p:cNvPr>
          <p:cNvSpPr/>
          <p:nvPr/>
        </p:nvSpPr>
        <p:spPr>
          <a:xfrm>
            <a:off x="609600" y="5892800"/>
            <a:ext cx="10972800" cy="711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8DEDED-C681-FE73-99A8-B4385F4C9255}"/>
              </a:ext>
            </a:extLst>
          </p:cNvPr>
          <p:cNvSpPr txBox="1"/>
          <p:nvPr/>
        </p:nvSpPr>
        <p:spPr>
          <a:xfrm>
            <a:off x="762000" y="6070600"/>
            <a:ext cx="106680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최종 메시지</a:t>
            </a:r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수정이 많았던 이유는 라이브러리가 부족해서가 아니라</a:t>
            </a:r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장비에서 믿을 수 있는 시스템으로 바꾸는 과정이었기 때문이다</a:t>
            </a:r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707BB7-42B5-B79F-08C1-9685C2B13F05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31AA5E-384D-BAE2-594A-D488726D5AED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767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와이드스크린</PresentationFormat>
  <Paragraphs>154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정진수</dc:creator>
  <cp:lastModifiedBy>정진수</cp:lastModifiedBy>
  <cp:revision>1</cp:revision>
  <dcterms:created xsi:type="dcterms:W3CDTF">2026-03-22T08:30:12Z</dcterms:created>
  <dcterms:modified xsi:type="dcterms:W3CDTF">2026-03-22T08:30:12Z</dcterms:modified>
</cp:coreProperties>
</file>