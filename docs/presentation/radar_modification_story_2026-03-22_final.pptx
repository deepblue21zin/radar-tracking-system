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BF870-B68F-CF62-812B-4761320916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4E9DF8-5AC4-8C59-EEDE-366B1E689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CFC756-455C-20B1-092C-15B553662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303B-5E84-4105-BE44-FC979942C5C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34A3CA-4000-E7BC-49EC-5015FBBC7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6A2612-F404-F1AD-0EBD-D37C527B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3C44F-9B8C-448C-9D01-464A778BFC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13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240440-102E-07E4-5ED5-0DDB7D38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2EBE7-A739-0E4B-4350-5DB13B588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7F15BA-F886-4D22-63BE-EBA3D7DC0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303B-5E84-4105-BE44-FC979942C5C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298A8F-5624-F594-9326-A6FDFE9CD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7B0CEB-8DF7-38D9-FACC-C04628DD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3C44F-9B8C-448C-9D01-464A778BFC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26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5DBCA5-1720-2C88-07F1-1A9F6874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327357-94CA-A2FA-88C2-ADE4007E8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21AE30-365E-54D9-EAE6-258C6FFB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303B-5E84-4105-BE44-FC979942C5C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65B012-BE84-5703-6D0B-1A783BAE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24BB1B-FFDA-DA9F-0E4B-F8B8A48B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3C44F-9B8C-448C-9D01-464A778BFC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69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11E99-E065-486E-F9F0-691BE0B8A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A30799-1B7A-FB77-653F-75AA8FD27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27DEB-D283-AB20-AE4D-FECBA5BCB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379658-DF39-CD25-3DC8-C2A51CDBA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303B-5E84-4105-BE44-FC979942C5C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A8731E-42C0-3604-A4CA-F076B06BB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01CA69-A4F2-B682-24B1-CE473C27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3C44F-9B8C-448C-9D01-464A778BFC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04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231F72-7E22-6BC0-15DE-34B15DA01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C7F032-BA8A-267E-6C53-4A3A7D7E0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705CC2-634F-2CED-83A2-BC49B106B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83DAB3-02D1-BFA2-3B98-3AEDE15C87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8E4DBA-F43C-AC8E-DFB0-B0DF439105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3EEBFF-8CE3-9208-8923-A13958EA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303B-5E84-4105-BE44-FC979942C5C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6212B4-352B-5890-EBCD-CA053180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C793C7-30D5-C3EB-8E3A-C091D9F7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3C44F-9B8C-448C-9D01-464A778BFC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96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E1A93B-EA73-90E3-220F-687A3128B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1C0C5BE-05ED-8888-7E01-90998A3C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303B-5E84-4105-BE44-FC979942C5C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6AA114-4AF2-2759-62DD-6831402B5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821FD3-C14E-51F9-C8A4-783E6739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3C44F-9B8C-448C-9D01-464A778BFC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511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8A2B712-9136-3702-4003-D650F86C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303B-5E84-4105-BE44-FC979942C5C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A88BF7-62D5-6C6E-D02E-C19AB565D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117D9A-DE35-5C89-7708-6C465BF6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3C44F-9B8C-448C-9D01-464A778BFC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299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743F3-FA31-1781-0897-841530A9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5C9F7B-719D-A622-CCBC-27BE5DF9A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3A23B5-B28D-9749-C5C6-43385CCB9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CAFE33-9BC8-2A9F-8EFA-345C8CEE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303B-5E84-4105-BE44-FC979942C5C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BFD261-4042-9466-088C-4E103F2C9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BC59B4-32AD-CC21-FF5F-9D29FE13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3C44F-9B8C-448C-9D01-464A778BFC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995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7CF72-5862-E175-CA96-EF6BA5B7D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312855-7406-92E2-D4E0-7649B5815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ABCA46-BDA3-7340-318E-11A700754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4FDA04-8A5D-E65F-9A01-C8979FD26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303B-5E84-4105-BE44-FC979942C5C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AA718D-F072-15F4-E615-F88DB821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F1094A-FE1A-2693-D1D3-F20F8D0B2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3C44F-9B8C-448C-9D01-464A778BFC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75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00966-A0DB-2A00-87DB-403BC6C86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94B336-8A3E-AB87-30A9-672CEFD98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52E593-982B-88D7-02F1-CD1D52DD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303B-5E84-4105-BE44-FC979942C5C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EA4C23-07F6-AB64-66D8-FB032A60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8228B-0A23-F2DD-1A1F-3D80F8F9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3C44F-9B8C-448C-9D01-464A778BFC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071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C969D09-7798-5C46-8FD2-610CF7942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3DBFBF-646F-0195-5CA4-29E3E8F87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5C3464-8581-29B3-2D59-6DDEE406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303B-5E84-4105-BE44-FC979942C5C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128331-26A5-5BDC-BF10-E090951D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821E2-7EEE-0BE1-8480-5FEC9F28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3C44F-9B8C-448C-9D01-464A778BFC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02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B49872-E9A6-D68C-0327-A2712D4D2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FCA9C9-7B45-068F-3FAA-2C27098F7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08B2DD-5C5A-8353-BD02-9F98BC36F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5303B-5E84-4105-BE44-FC979942C5C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E4361E-A6C7-019B-CD9F-B41CFABBA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9BC24E-2207-88EA-8D4F-C79A07851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3C44F-9B8C-448C-9D01-464A778BFC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700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4DA8FC6-A6F3-78BB-7C3C-C17835CD8B96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05FD1F-7008-0908-C706-0D32AB160149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D14016-9129-0225-0159-AA68434E0211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Radar Tracking System</a:t>
            </a:r>
            <a:endParaRPr lang="ko-KR" altLang="en-US" sz="28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4437C-C8CC-E5B9-9FB1-ECC8578F40CF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라이브러리 도입 이후 왜 수정이 계속 필요했는가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622A19-081C-33E7-2CDB-4B3ABEB8B347}"/>
              </a:ext>
            </a:extLst>
          </p:cNvPr>
          <p:cNvSpPr/>
          <p:nvPr/>
        </p:nvSpPr>
        <p:spPr>
          <a:xfrm>
            <a:off x="609600" y="1574800"/>
            <a:ext cx="10972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C91EF-A451-30E2-F2D1-ECC711A5E802}"/>
              </a:ext>
            </a:extLst>
          </p:cNvPr>
          <p:cNvSpPr txBox="1"/>
          <p:nvPr/>
        </p:nvSpPr>
        <p:spPr>
          <a:xfrm>
            <a:off x="889000" y="1854200"/>
            <a:ext cx="10414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 줄 요약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D5771A-2EA2-D571-6C6F-51071A3C718E}"/>
              </a:ext>
            </a:extLst>
          </p:cNvPr>
          <p:cNvSpPr txBox="1"/>
          <p:nvPr/>
        </p:nvSpPr>
        <p:spPr>
          <a:xfrm>
            <a:off x="889000" y="2235200"/>
            <a:ext cx="10414000" cy="73866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알고리즘을 붙인 뒤부터가 오히려 진짜 작업이었다</a:t>
            </a:r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문제를 보이게 하고</a:t>
            </a:r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화면과 실제 런타임을 맞추고</a:t>
            </a:r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설치 자세와 성능 병목을 분리하는 과정이 계속 이어졌다</a:t>
            </a:r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100" b="1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F70C56-C268-F68D-1110-749710DD6B43}"/>
              </a:ext>
            </a:extLst>
          </p:cNvPr>
          <p:cNvSpPr/>
          <p:nvPr/>
        </p:nvSpPr>
        <p:spPr>
          <a:xfrm>
            <a:off x="609600" y="3429000"/>
            <a:ext cx="3429000" cy="2387600"/>
          </a:xfrm>
          <a:prstGeom prst="rect">
            <a:avLst/>
          </a:prstGeom>
          <a:solidFill>
            <a:srgbClr val="E9F1FC"/>
          </a:solidFill>
          <a:ln w="15240">
            <a:solidFill>
              <a:srgbClr val="2C6F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3443D9-33F6-6927-201A-B7F523C80DED}"/>
              </a:ext>
            </a:extLst>
          </p:cNvPr>
          <p:cNvSpPr txBox="1"/>
          <p:nvPr/>
        </p:nvSpPr>
        <p:spPr>
          <a:xfrm>
            <a:off x="812800" y="3632200"/>
            <a:ext cx="29972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출발점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711D6C-38A2-3F10-D5B2-FE32A4A1E233}"/>
              </a:ext>
            </a:extLst>
          </p:cNvPr>
          <p:cNvSpPr txBox="1"/>
          <p:nvPr/>
        </p:nvSpPr>
        <p:spPr>
          <a:xfrm>
            <a:off x="787400" y="4089400"/>
            <a:ext cx="3073400" cy="170816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TLV Parse, Filter, DBSCAN, Kalman, Viewer </a:t>
            </a:r>
            <a:r>
              <a:rPr lang="ko-KR" altLang="en-US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구성</a:t>
            </a:r>
          </a:p>
          <a:p>
            <a:endParaRPr lang="ko-KR" altLang="en-US" sz="15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scikit-learn, FilterPy, TI parsing </a:t>
            </a:r>
            <a:r>
              <a:rPr lang="ko-KR" altLang="en-US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아이디어 활용</a:t>
            </a:r>
          </a:p>
          <a:p>
            <a:endParaRPr lang="ko-KR" altLang="en-US" sz="15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초기 목표는 빠른 동작 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78D5B0-0740-D1A6-92DD-FF7F9B2C2D27}"/>
              </a:ext>
            </a:extLst>
          </p:cNvPr>
          <p:cNvSpPr/>
          <p:nvPr/>
        </p:nvSpPr>
        <p:spPr>
          <a:xfrm>
            <a:off x="4368800" y="3429000"/>
            <a:ext cx="3429000" cy="2387600"/>
          </a:xfrm>
          <a:prstGeom prst="rect">
            <a:avLst/>
          </a:prstGeom>
          <a:solidFill>
            <a:srgbClr val="FBECE9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5CD6B6-6B3C-5A9C-28D6-8E94654959C4}"/>
              </a:ext>
            </a:extLst>
          </p:cNvPr>
          <p:cNvSpPr txBox="1"/>
          <p:nvPr/>
        </p:nvSpPr>
        <p:spPr>
          <a:xfrm>
            <a:off x="4572000" y="3632200"/>
            <a:ext cx="29972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바로 드러난 문제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BA4685-86D0-9E59-865F-81250EE32F69}"/>
              </a:ext>
            </a:extLst>
          </p:cNvPr>
          <p:cNvSpPr txBox="1"/>
          <p:nvPr/>
        </p:nvSpPr>
        <p:spPr>
          <a:xfrm>
            <a:off x="4546600" y="4089400"/>
            <a:ext cx="3073400" cy="1323439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parser validity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불안정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viewer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그대로 믿기 어려움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실내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clutter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설치 자세 영향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98DB38-3C43-187B-CD6D-81A9DFBF06C1}"/>
              </a:ext>
            </a:extLst>
          </p:cNvPr>
          <p:cNvSpPr/>
          <p:nvPr/>
        </p:nvSpPr>
        <p:spPr>
          <a:xfrm>
            <a:off x="8128000" y="3429000"/>
            <a:ext cx="3454400" cy="23876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721E9B-B441-D7FD-DA71-3CEAE4B547C4}"/>
              </a:ext>
            </a:extLst>
          </p:cNvPr>
          <p:cNvSpPr txBox="1"/>
          <p:nvPr/>
        </p:nvSpPr>
        <p:spPr>
          <a:xfrm>
            <a:off x="8331200" y="3632200"/>
            <a:ext cx="30226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발표 핵심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332ADD-99C5-834C-7A55-580D30D8CE05}"/>
              </a:ext>
            </a:extLst>
          </p:cNvPr>
          <p:cNvSpPr txBox="1"/>
          <p:nvPr/>
        </p:nvSpPr>
        <p:spPr>
          <a:xfrm>
            <a:off x="8305800" y="4089400"/>
            <a:ext cx="3098800" cy="170816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라이브러리는 알고리즘 블록만 제공</a:t>
            </a:r>
          </a:p>
          <a:p>
            <a:endParaRPr lang="ko-KR" altLang="en-US" sz="15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장비에서는 시스템 정합성이 먼저 중요</a:t>
            </a:r>
          </a:p>
          <a:p>
            <a:endParaRPr lang="ko-KR" altLang="en-US" sz="15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5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수정이 반복되었다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0B8DE6-3BA5-857A-CFAD-8605D8B282D3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F322A2-D163-C52C-359B-1FF44BD50179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040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3B65AA8-B717-91B9-37D4-53B0A5F4D57F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CE3113-518D-88A9-F9F0-FFF94C4F7773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755B0-2239-2593-5404-CCD9F2B45445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왜 수정이 반복되었나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82CF8-EF82-BE6A-C31C-2371BEAF866D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문제는 한 군데가 아니라 네 축에서 동시에 나왔다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BEEAAC-E279-3808-9924-C8D6F51C7492}"/>
              </a:ext>
            </a:extLst>
          </p:cNvPr>
          <p:cNvSpPr/>
          <p:nvPr/>
        </p:nvSpPr>
        <p:spPr>
          <a:xfrm>
            <a:off x="660400" y="1676400"/>
            <a:ext cx="5232400" cy="1905000"/>
          </a:xfrm>
          <a:prstGeom prst="rect">
            <a:avLst/>
          </a:prstGeom>
          <a:solidFill>
            <a:srgbClr val="E9F1FC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F912C2-75EC-FEB4-A69C-6276F12B0AF2}"/>
              </a:ext>
            </a:extLst>
          </p:cNvPr>
          <p:cNvSpPr txBox="1"/>
          <p:nvPr/>
        </p:nvSpPr>
        <p:spPr>
          <a:xfrm>
            <a:off x="863600" y="1879600"/>
            <a:ext cx="4826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환경 재현성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987855-7209-0196-8BA3-65EA771555B5}"/>
              </a:ext>
            </a:extLst>
          </p:cNvPr>
          <p:cNvSpPr txBox="1"/>
          <p:nvPr/>
        </p:nvSpPr>
        <p:spPr>
          <a:xfrm>
            <a:off x="863600" y="2336800"/>
            <a:ext cx="48260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requirements, import, cfg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응답이 정리되지 않으면 팀원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PC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같은 문제가 재현되지 않았다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1B1C6F-4F89-C9AD-2606-CAF38B9CD31B}"/>
              </a:ext>
            </a:extLst>
          </p:cNvPr>
          <p:cNvSpPr/>
          <p:nvPr/>
        </p:nvSpPr>
        <p:spPr>
          <a:xfrm>
            <a:off x="6299200" y="1676400"/>
            <a:ext cx="5232400" cy="1905000"/>
          </a:xfrm>
          <a:prstGeom prst="rect">
            <a:avLst/>
          </a:prstGeom>
          <a:solidFill>
            <a:srgbClr val="FBECE9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379E1-883A-CD7E-A412-B2094B173F68}"/>
              </a:ext>
            </a:extLst>
          </p:cNvPr>
          <p:cNvSpPr txBox="1"/>
          <p:nvPr/>
        </p:nvSpPr>
        <p:spPr>
          <a:xfrm>
            <a:off x="6502400" y="1879600"/>
            <a:ext cx="4826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Parser validity</a:t>
            </a:r>
            <a:endParaRPr lang="ko-KR" altLang="en-US" sz="2000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0F4DAA-97D9-6047-9F18-F6B59DC4DA0E}"/>
              </a:ext>
            </a:extLst>
          </p:cNvPr>
          <p:cNvSpPr txBox="1"/>
          <p:nvPr/>
        </p:nvSpPr>
        <p:spPr>
          <a:xfrm>
            <a:off x="6502400" y="2336800"/>
            <a:ext cx="48260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malformed frame, resync, dropped frame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분리해 보지 않으면 잘못된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point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 정상처럼 보였다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051BC9-B6BE-C462-8E3D-BBD96D3EFE1C}"/>
              </a:ext>
            </a:extLst>
          </p:cNvPr>
          <p:cNvSpPr/>
          <p:nvPr/>
        </p:nvSpPr>
        <p:spPr>
          <a:xfrm>
            <a:off x="660400" y="4013200"/>
            <a:ext cx="5232400" cy="19050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92BF53-AAB5-151A-7787-3EA0FB7AA67B}"/>
              </a:ext>
            </a:extLst>
          </p:cNvPr>
          <p:cNvSpPr txBox="1"/>
          <p:nvPr/>
        </p:nvSpPr>
        <p:spPr>
          <a:xfrm>
            <a:off x="863600" y="4216400"/>
            <a:ext cx="4826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Viewer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신뢰성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09FB36-AF77-0D0D-F673-D982C7928CC0}"/>
              </a:ext>
            </a:extLst>
          </p:cNvPr>
          <p:cNvSpPr txBox="1"/>
          <p:nvPr/>
        </p:nvSpPr>
        <p:spPr>
          <a:xfrm>
            <a:off x="863600" y="4673600"/>
            <a:ext cx="48260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viewer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runtime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같은 계산 경로를 타지 않으면 화면을 기준으로 잘못 튜닝하게 된다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13DCD8-4B49-FC0C-F21D-36BBE7FD7B5A}"/>
              </a:ext>
            </a:extLst>
          </p:cNvPr>
          <p:cNvSpPr/>
          <p:nvPr/>
        </p:nvSpPr>
        <p:spPr>
          <a:xfrm>
            <a:off x="6299200" y="4013200"/>
            <a:ext cx="5232400" cy="1905000"/>
          </a:xfrm>
          <a:prstGeom prst="rect">
            <a:avLst/>
          </a:prstGeom>
          <a:solidFill>
            <a:srgbClr val="FFF6E2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7A9317-B909-983A-5DEA-A34A549C1E08}"/>
              </a:ext>
            </a:extLst>
          </p:cNvPr>
          <p:cNvSpPr txBox="1"/>
          <p:nvPr/>
        </p:nvSpPr>
        <p:spPr>
          <a:xfrm>
            <a:off x="6502400" y="4216400"/>
            <a:ext cx="4826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실내 설치 조건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ABDB63-5622-7537-94CA-E64B2A156852}"/>
              </a:ext>
            </a:extLst>
          </p:cNvPr>
          <p:cNvSpPr txBox="1"/>
          <p:nvPr/>
        </p:nvSpPr>
        <p:spPr>
          <a:xfrm>
            <a:off x="6502400" y="4673600"/>
            <a:ext cx="48260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yaw, pitch, height, range gate, clutter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continuity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split track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직접 영향을 줬다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1BF08-1205-EBD0-3BE4-8136963B828B}"/>
              </a:ext>
            </a:extLst>
          </p:cNvPr>
          <p:cNvSpPr txBox="1"/>
          <p:nvPr/>
        </p:nvSpPr>
        <p:spPr>
          <a:xfrm>
            <a:off x="711200" y="6350000"/>
            <a:ext cx="107188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정리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수정은 “코드가 틀려서”가 아니라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라이브러리 위에 실제 장비용 관측 체계와 운영 구조를 올리는 과정이었다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80654E-34A1-60DF-5598-94560F3A4A13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C23F9F-E932-4C08-0EB5-58CDFDD6D554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7083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93C363C-34D3-3189-DC61-650FB1700714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17E54B-21AD-C17C-4105-A9771B8D8C5E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A306F-17DE-4D4A-952C-AE36E9821CB6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 흐름 타임라인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A822B-60D5-3F27-7DE2-D38BC730A841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03-15 -&gt; 03-19</a:t>
            </a:r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갈수록 알고리즘보다 구조와 검증 체계 쪽으로 이동했다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CC864E-D7CE-D603-02D3-FF84975A0AFF}"/>
              </a:ext>
            </a:extLst>
          </p:cNvPr>
          <p:cNvSpPr/>
          <p:nvPr/>
        </p:nvSpPr>
        <p:spPr>
          <a:xfrm>
            <a:off x="1143000" y="3276600"/>
            <a:ext cx="9906000" cy="76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4BEDFE-B39C-D39A-A99A-4D0C2DF56B0C}"/>
              </a:ext>
            </a:extLst>
          </p:cNvPr>
          <p:cNvSpPr/>
          <p:nvPr/>
        </p:nvSpPr>
        <p:spPr>
          <a:xfrm>
            <a:off x="1270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51581-BE87-F679-163A-1F4B5EA5CF2D}"/>
              </a:ext>
            </a:extLst>
          </p:cNvPr>
          <p:cNvSpPr txBox="1"/>
          <p:nvPr/>
        </p:nvSpPr>
        <p:spPr>
          <a:xfrm>
            <a:off x="1143000" y="2641600"/>
            <a:ext cx="1066800" cy="33855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03-15</a:t>
            </a:r>
            <a:endParaRPr lang="ko-KR" altLang="en-US" sz="1600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D5FC41-6E75-E0D6-0153-F47D0C397B8F}"/>
              </a:ext>
            </a:extLst>
          </p:cNvPr>
          <p:cNvSpPr/>
          <p:nvPr/>
        </p:nvSpPr>
        <p:spPr>
          <a:xfrm>
            <a:off x="660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22381A-3144-41EB-8C51-2F4068F12E0F}"/>
              </a:ext>
            </a:extLst>
          </p:cNvPr>
          <p:cNvSpPr txBox="1"/>
          <p:nvPr/>
        </p:nvSpPr>
        <p:spPr>
          <a:xfrm>
            <a:off x="787400" y="3987800"/>
            <a:ext cx="1219200" cy="55399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관측 가능성 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106966-0EC5-06FF-D6F9-61C5F22253AD}"/>
              </a:ext>
            </a:extLst>
          </p:cNvPr>
          <p:cNvSpPr txBox="1"/>
          <p:nvPr/>
        </p:nvSpPr>
        <p:spPr>
          <a:xfrm>
            <a:off x="787400" y="4368800"/>
            <a:ext cx="1219200" cy="101566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requirements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정리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\ncfg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응답 로그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\nType1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누락 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fail</a:t>
            </a:r>
            <a:endParaRPr lang="ko-KR" altLang="en-US" sz="12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AE12D86-47F2-3B00-6924-6469081487BF}"/>
              </a:ext>
            </a:extLst>
          </p:cNvPr>
          <p:cNvSpPr/>
          <p:nvPr/>
        </p:nvSpPr>
        <p:spPr>
          <a:xfrm>
            <a:off x="3302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FB541C-CF8C-120D-CC31-352FDF52BCDC}"/>
              </a:ext>
            </a:extLst>
          </p:cNvPr>
          <p:cNvSpPr txBox="1"/>
          <p:nvPr/>
        </p:nvSpPr>
        <p:spPr>
          <a:xfrm>
            <a:off x="3175000" y="2641600"/>
            <a:ext cx="10668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03-18 </a:t>
            </a:r>
            <a:r>
              <a:rPr lang="ko-KR" altLang="en-US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82949C-3AFD-A826-B8B2-C97BCDD71E59}"/>
              </a:ext>
            </a:extLst>
          </p:cNvPr>
          <p:cNvSpPr/>
          <p:nvPr/>
        </p:nvSpPr>
        <p:spPr>
          <a:xfrm>
            <a:off x="2692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65DA0E-4C2F-8815-F905-CFBC106EE456}"/>
              </a:ext>
            </a:extLst>
          </p:cNvPr>
          <p:cNvSpPr txBox="1"/>
          <p:nvPr/>
        </p:nvSpPr>
        <p:spPr>
          <a:xfrm>
            <a:off x="2819400" y="3987800"/>
            <a:ext cx="1219200" cy="32316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필터 튜닝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F8B898-0ACF-E980-A2C0-47AE2EEC509E}"/>
              </a:ext>
            </a:extLst>
          </p:cNvPr>
          <p:cNvSpPr txBox="1"/>
          <p:nvPr/>
        </p:nvSpPr>
        <p:spPr>
          <a:xfrm>
            <a:off x="2819400" y="4368800"/>
            <a:ext cx="1219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keepout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조정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\nmax_range\nz gate</a:t>
            </a:r>
            <a:endParaRPr lang="ko-KR" altLang="en-US" sz="12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4111A7-7ED6-1034-4FAE-87BC60F08A78}"/>
              </a:ext>
            </a:extLst>
          </p:cNvPr>
          <p:cNvSpPr/>
          <p:nvPr/>
        </p:nvSpPr>
        <p:spPr>
          <a:xfrm>
            <a:off x="5334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0591D-ED4C-5202-C966-06FF690574F0}"/>
              </a:ext>
            </a:extLst>
          </p:cNvPr>
          <p:cNvSpPr txBox="1"/>
          <p:nvPr/>
        </p:nvSpPr>
        <p:spPr>
          <a:xfrm>
            <a:off x="5207000" y="2641600"/>
            <a:ext cx="10668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03-18 </a:t>
            </a:r>
            <a:r>
              <a:rPr lang="ko-KR" altLang="en-US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오후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A181EE-7960-0EA0-846B-27F03D5E211D}"/>
              </a:ext>
            </a:extLst>
          </p:cNvPr>
          <p:cNvSpPr/>
          <p:nvPr/>
        </p:nvSpPr>
        <p:spPr>
          <a:xfrm>
            <a:off x="4724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7870C0-B2C1-03D8-425C-3D1FCA1974AB}"/>
              </a:ext>
            </a:extLst>
          </p:cNvPr>
          <p:cNvSpPr txBox="1"/>
          <p:nvPr/>
        </p:nvSpPr>
        <p:spPr>
          <a:xfrm>
            <a:off x="4851400" y="3987800"/>
            <a:ext cx="1219200" cy="32316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 분리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B5F3E-54A6-EAE1-3BC3-579AE6B4AFD3}"/>
              </a:ext>
            </a:extLst>
          </p:cNvPr>
          <p:cNvSpPr txBox="1"/>
          <p:nvPr/>
        </p:nvSpPr>
        <p:spPr>
          <a:xfrm>
            <a:off x="4851400" y="4368800"/>
            <a:ext cx="1219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runtime_pipeline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\n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공용 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params</a:t>
            </a:r>
            <a:endParaRPr lang="ko-KR" altLang="en-US" sz="12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1ACE09E-A252-E1A8-87DF-C83A02CB2A64}"/>
              </a:ext>
            </a:extLst>
          </p:cNvPr>
          <p:cNvSpPr/>
          <p:nvPr/>
        </p:nvSpPr>
        <p:spPr>
          <a:xfrm>
            <a:off x="7366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799CC4-7203-6F5C-6BDA-611996AC9671}"/>
              </a:ext>
            </a:extLst>
          </p:cNvPr>
          <p:cNvSpPr txBox="1"/>
          <p:nvPr/>
        </p:nvSpPr>
        <p:spPr>
          <a:xfrm>
            <a:off x="7239000" y="2641600"/>
            <a:ext cx="1066800" cy="33855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03-18 </a:t>
            </a:r>
            <a:r>
              <a:rPr lang="ko-KR" altLang="en-US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3D868E-1485-F14F-C6E1-B14E0953137A}"/>
              </a:ext>
            </a:extLst>
          </p:cNvPr>
          <p:cNvSpPr/>
          <p:nvPr/>
        </p:nvSpPr>
        <p:spPr>
          <a:xfrm>
            <a:off x="6756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E8AAE4-6536-5FA8-84F1-15700B4824A7}"/>
              </a:ext>
            </a:extLst>
          </p:cNvPr>
          <p:cNvSpPr txBox="1"/>
          <p:nvPr/>
        </p:nvSpPr>
        <p:spPr>
          <a:xfrm>
            <a:off x="6883400" y="3987800"/>
            <a:ext cx="1219200" cy="55399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viewer </a:t>
            </a:r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ABB46A-4C41-3503-2953-EBA8A8AB3C97}"/>
              </a:ext>
            </a:extLst>
          </p:cNvPr>
          <p:cNvSpPr txBox="1"/>
          <p:nvPr/>
        </p:nvSpPr>
        <p:spPr>
          <a:xfrm>
            <a:off x="6883400" y="4368800"/>
            <a:ext cx="1219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shared path\ncallback renderer</a:t>
            </a:r>
            <a:endParaRPr lang="ko-KR" altLang="en-US" sz="12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DCE73F4-F73D-F0F5-6B79-F50BA509D4C4}"/>
              </a:ext>
            </a:extLst>
          </p:cNvPr>
          <p:cNvSpPr/>
          <p:nvPr/>
        </p:nvSpPr>
        <p:spPr>
          <a:xfrm>
            <a:off x="9398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AABB6D-D55D-68B3-59BE-2650324C21BE}"/>
              </a:ext>
            </a:extLst>
          </p:cNvPr>
          <p:cNvSpPr txBox="1"/>
          <p:nvPr/>
        </p:nvSpPr>
        <p:spPr>
          <a:xfrm>
            <a:off x="9271000" y="2641600"/>
            <a:ext cx="1066800" cy="33855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03-19</a:t>
            </a:r>
            <a:endParaRPr lang="ko-KR" altLang="en-US" sz="1600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699DD74-A991-F720-825C-FD63F660417D}"/>
              </a:ext>
            </a:extLst>
          </p:cNvPr>
          <p:cNvSpPr/>
          <p:nvPr/>
        </p:nvSpPr>
        <p:spPr>
          <a:xfrm>
            <a:off x="8788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B5BD93-4031-7BBF-3203-A8736B24ECCD}"/>
              </a:ext>
            </a:extLst>
          </p:cNvPr>
          <p:cNvSpPr txBox="1"/>
          <p:nvPr/>
        </p:nvSpPr>
        <p:spPr>
          <a:xfrm>
            <a:off x="8915400" y="3987800"/>
            <a:ext cx="1219200" cy="55399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좌표</a:t>
            </a:r>
            <a:r>
              <a:rPr lang="en-US" altLang="ko-KR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성능 분리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751D9D-EE36-322B-D451-248A9A7BD378}"/>
              </a:ext>
            </a:extLst>
          </p:cNvPr>
          <p:cNvSpPr txBox="1"/>
          <p:nvPr/>
        </p:nvSpPr>
        <p:spPr>
          <a:xfrm>
            <a:off x="8915400" y="4368800"/>
            <a:ext cx="1219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yaw/pitch/height\nworker/draw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0736FA-820C-30EA-A448-C4D8D16087D8}"/>
              </a:ext>
            </a:extLst>
          </p:cNvPr>
          <p:cNvSpPr txBox="1"/>
          <p:nvPr/>
        </p:nvSpPr>
        <p:spPr>
          <a:xfrm>
            <a:off x="711200" y="6070600"/>
            <a:ext cx="106680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변화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“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알고리즘이 있냐”에서 끝나지 않고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runtime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 정합성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시각화 신뢰성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설치 좌표 보정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자동 리포트까지 확장됐다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81E23A-C9E0-E0C5-9F0F-E14966930257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B9EE8F-1658-04B2-0188-DC9931B08415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8690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DD80598-F58A-4DD6-9C21-DC04E0645ECF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12E683-22F6-FCCB-1BD6-C08CC4A808CB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994B3-D7D9-22B6-C349-60B3A8A5832D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무엇을 어떻게 고쳤나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CD5A2-EF09-A8B4-49E1-8481ABD216B2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변경은 크게 세 단계로 설명하는 것이 발표에 가장 안정적이다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F44400-589A-D885-1D8C-2CCFBBE0F769}"/>
              </a:ext>
            </a:extLst>
          </p:cNvPr>
          <p:cNvSpPr/>
          <p:nvPr/>
        </p:nvSpPr>
        <p:spPr>
          <a:xfrm>
            <a:off x="609600" y="1778000"/>
            <a:ext cx="3429000" cy="3810000"/>
          </a:xfrm>
          <a:prstGeom prst="rect">
            <a:avLst/>
          </a:prstGeom>
          <a:solidFill>
            <a:srgbClr val="E9F1FC"/>
          </a:solidFill>
          <a:ln w="15240">
            <a:solidFill>
              <a:srgbClr val="2C6F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C68B20-99D2-AC62-917D-C9A317FCFC61}"/>
              </a:ext>
            </a:extLst>
          </p:cNvPr>
          <p:cNvSpPr txBox="1"/>
          <p:nvPr/>
        </p:nvSpPr>
        <p:spPr>
          <a:xfrm>
            <a:off x="812800" y="2006600"/>
            <a:ext cx="29972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실패를 보이게 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CBD795-1719-1F00-AD2D-0C621E0C72AE}"/>
              </a:ext>
            </a:extLst>
          </p:cNvPr>
          <p:cNvSpPr txBox="1"/>
          <p:nvPr/>
        </p:nvSpPr>
        <p:spPr>
          <a:xfrm>
            <a:off x="787400" y="2514600"/>
            <a:ext cx="3073400" cy="230832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cfg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응답 로그 추가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Type1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누락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frame fail</a:t>
            </a:r>
          </a:p>
          <a:p>
            <a:endParaRPr lang="en-US" altLang="ko-KR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error log / correction report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누적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문제를 재현 가능한 상태로 전환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86554DA-042B-CE84-6E5E-4A5E9F367D13}"/>
              </a:ext>
            </a:extLst>
          </p:cNvPr>
          <p:cNvSpPr/>
          <p:nvPr/>
        </p:nvSpPr>
        <p:spPr>
          <a:xfrm>
            <a:off x="4368800" y="1778000"/>
            <a:ext cx="3429000" cy="38100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612F9-EC50-7470-4CAC-421E11D84C0E}"/>
              </a:ext>
            </a:extLst>
          </p:cNvPr>
          <p:cNvSpPr txBox="1"/>
          <p:nvPr/>
        </p:nvSpPr>
        <p:spPr>
          <a:xfrm>
            <a:off x="4572000" y="2006600"/>
            <a:ext cx="2997200" cy="707886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2. viewer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runtime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FBC799-9F7D-91C0-C5A7-BB90AA87B83F}"/>
              </a:ext>
            </a:extLst>
          </p:cNvPr>
          <p:cNvSpPr txBox="1"/>
          <p:nvPr/>
        </p:nvSpPr>
        <p:spPr>
          <a:xfrm>
            <a:off x="4546600" y="2514600"/>
            <a:ext cx="3073400" cy="230832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motion cloud / trail / overlay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추가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shared processing path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callback renderer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재구성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화면과 로그를 같은 근거로 비교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8E06A0-3600-AA07-525A-945F478E400F}"/>
              </a:ext>
            </a:extLst>
          </p:cNvPr>
          <p:cNvSpPr/>
          <p:nvPr/>
        </p:nvSpPr>
        <p:spPr>
          <a:xfrm>
            <a:off x="8128000" y="1778000"/>
            <a:ext cx="3454400" cy="3810000"/>
          </a:xfrm>
          <a:prstGeom prst="rect">
            <a:avLst/>
          </a:prstGeom>
          <a:solidFill>
            <a:srgbClr val="FFF6E2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5F777-410E-B583-19BC-EE2C3B6AD991}"/>
              </a:ext>
            </a:extLst>
          </p:cNvPr>
          <p:cNvSpPr txBox="1"/>
          <p:nvPr/>
        </p:nvSpPr>
        <p:spPr>
          <a:xfrm>
            <a:off x="8331200" y="2006600"/>
            <a:ext cx="30226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3.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설치</a:t>
            </a:r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성능 왜곡 분리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927344-922F-4462-0CD2-89CD6487DCAA}"/>
              </a:ext>
            </a:extLst>
          </p:cNvPr>
          <p:cNvSpPr txBox="1"/>
          <p:nvPr/>
        </p:nvSpPr>
        <p:spPr>
          <a:xfrm>
            <a:off x="8305800" y="2514600"/>
            <a:ext cx="3098800" cy="230832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sensor yaw / pitch / height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world coordinate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정렬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worker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draw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logging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병목과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draw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병목 분리 측정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1B8905-3A88-5E0B-DE74-E419ED8BEEDC}"/>
              </a:ext>
            </a:extLst>
          </p:cNvPr>
          <p:cNvSpPr txBox="1"/>
          <p:nvPr/>
        </p:nvSpPr>
        <p:spPr>
          <a:xfrm>
            <a:off x="660400" y="6019800"/>
            <a:ext cx="10922000" cy="38100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즉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수정은 기능 추가라기보다 “무엇을 믿어야 하는지”를 만드는 작업이었다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EFEF77-639C-D474-FB39-FCED7FBD605B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98080F-CF46-F68F-BABE-A587EEA7F930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4134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146467C-21EC-415D-309D-D73F6A48016C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091B0A-E895-D7B5-03FE-E6AFDF464268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E6826-2C51-D2E6-1B69-6C119BC6FC90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로그로 본 개선 근거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E42BD-CE21-4350-AFA8-82AD00312FA2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문제가 사라진 것이 아니라</a:t>
            </a:r>
            <a:r>
              <a:rPr lang="en-US" altLang="ko-KR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병목이 점점 더 분리되어 보이게 되었다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71DF4AA-9FE5-BE81-27AE-EA8002A82652}"/>
              </a:ext>
            </a:extLst>
          </p:cNvPr>
          <p:cNvSpPr/>
          <p:nvPr/>
        </p:nvSpPr>
        <p:spPr>
          <a:xfrm>
            <a:off x="660400" y="1752600"/>
            <a:ext cx="3276600" cy="1981200"/>
          </a:xfrm>
          <a:prstGeom prst="rect">
            <a:avLst/>
          </a:prstGeom>
          <a:solidFill>
            <a:srgbClr val="FBECE9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78C12-31F5-66E3-1205-6901EC48B8D7}"/>
              </a:ext>
            </a:extLst>
          </p:cNvPr>
          <p:cNvSpPr txBox="1"/>
          <p:nvPr/>
        </p:nvSpPr>
        <p:spPr>
          <a:xfrm>
            <a:off x="863600" y="1981200"/>
            <a:ext cx="28448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03-15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초기 상태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D6E4A-8401-D387-76BC-C37B67ED4500}"/>
              </a:ext>
            </a:extLst>
          </p:cNvPr>
          <p:cNvSpPr txBox="1"/>
          <p:nvPr/>
        </p:nvSpPr>
        <p:spPr>
          <a:xfrm>
            <a:off x="863600" y="2514600"/>
            <a:ext cx="2844800" cy="969496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900" b="1">
                <a:solidFill>
                  <a:srgbClr val="A643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FPS 0.158</a:t>
            </a:r>
          </a:p>
          <a:p>
            <a:r>
              <a:rPr lang="en-US" altLang="ko-KR" sz="1900" b="1">
                <a:solidFill>
                  <a:srgbClr val="A643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avg pipe 6311 ms</a:t>
            </a:r>
          </a:p>
          <a:p>
            <a:r>
              <a:rPr lang="ko-KR" altLang="en-US" sz="1900" b="1">
                <a:solidFill>
                  <a:srgbClr val="A643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사실상 </a:t>
            </a:r>
            <a:r>
              <a:rPr lang="en-US" altLang="ko-KR" sz="1900" b="1">
                <a:solidFill>
                  <a:srgbClr val="A643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unusable</a:t>
            </a:r>
            <a:endParaRPr lang="ko-KR" altLang="en-US" sz="1900" b="1">
              <a:solidFill>
                <a:srgbClr val="A643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802470-EDB5-A660-B294-CA84293D0A19}"/>
              </a:ext>
            </a:extLst>
          </p:cNvPr>
          <p:cNvSpPr/>
          <p:nvPr/>
        </p:nvSpPr>
        <p:spPr>
          <a:xfrm>
            <a:off x="4470400" y="1752600"/>
            <a:ext cx="3276600" cy="1981200"/>
          </a:xfrm>
          <a:prstGeom prst="rect">
            <a:avLst/>
          </a:prstGeom>
          <a:solidFill>
            <a:srgbClr val="FFF6E2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6BC4B-C63F-DC47-BBBD-2A2DD1EF2D4B}"/>
              </a:ext>
            </a:extLst>
          </p:cNvPr>
          <p:cNvSpPr txBox="1"/>
          <p:nvPr/>
        </p:nvSpPr>
        <p:spPr>
          <a:xfrm>
            <a:off x="4673600" y="1981200"/>
            <a:ext cx="28448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03-18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중간 상태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490671-7785-8810-442A-E6ABF5BA9DF5}"/>
              </a:ext>
            </a:extLst>
          </p:cNvPr>
          <p:cNvSpPr txBox="1"/>
          <p:nvPr/>
        </p:nvSpPr>
        <p:spPr>
          <a:xfrm>
            <a:off x="4673600" y="2514600"/>
            <a:ext cx="2844800" cy="969496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9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FPS 9.36</a:t>
            </a:r>
          </a:p>
          <a:p>
            <a:r>
              <a:rPr lang="en-US" altLang="ko-KR" sz="19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filter </a:t>
            </a:r>
            <a:r>
              <a:rPr lang="ko-KR" altLang="en-US" sz="19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동작</a:t>
            </a:r>
          </a:p>
          <a:p>
            <a:r>
              <a:rPr lang="en-US" altLang="ko-KR" sz="19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zero-track </a:t>
            </a:r>
            <a:r>
              <a:rPr lang="ko-KR" altLang="en-US" sz="19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많음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52CB06-7A37-6984-306D-D8DFA6AF465A}"/>
              </a:ext>
            </a:extLst>
          </p:cNvPr>
          <p:cNvSpPr/>
          <p:nvPr/>
        </p:nvSpPr>
        <p:spPr>
          <a:xfrm>
            <a:off x="8280400" y="1752600"/>
            <a:ext cx="3276600" cy="19812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B2CE82-FB9A-8F1B-4A14-A64D7E7E0EAA}"/>
              </a:ext>
            </a:extLst>
          </p:cNvPr>
          <p:cNvSpPr txBox="1"/>
          <p:nvPr/>
        </p:nvSpPr>
        <p:spPr>
          <a:xfrm>
            <a:off x="8483600" y="1981200"/>
            <a:ext cx="28448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03-19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최근 상태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25825D-9322-EA62-7C9D-3EA17B825CC7}"/>
              </a:ext>
            </a:extLst>
          </p:cNvPr>
          <p:cNvSpPr txBox="1"/>
          <p:nvPr/>
        </p:nvSpPr>
        <p:spPr>
          <a:xfrm>
            <a:off x="8483600" y="2514600"/>
            <a:ext cx="2844800" cy="969496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900" b="1">
                <a:solidFill>
                  <a:srgbClr val="2B6F5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FPS 9.87</a:t>
            </a:r>
          </a:p>
          <a:p>
            <a:r>
              <a:rPr lang="en-US" altLang="ko-KR" sz="1900" b="1">
                <a:solidFill>
                  <a:srgbClr val="2B6F5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parser health </a:t>
            </a:r>
            <a:r>
              <a:rPr lang="ko-KR" altLang="en-US" sz="1900" b="1">
                <a:solidFill>
                  <a:srgbClr val="2B6F5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개선</a:t>
            </a:r>
          </a:p>
          <a:p>
            <a:r>
              <a:rPr lang="ko-KR" altLang="en-US" sz="1900" b="1">
                <a:solidFill>
                  <a:srgbClr val="2B6F5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실사용 가능성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533D3E9-A48A-7A4F-A6F6-8F1FC1AEF374}"/>
              </a:ext>
            </a:extLst>
          </p:cNvPr>
          <p:cNvSpPr/>
          <p:nvPr/>
        </p:nvSpPr>
        <p:spPr>
          <a:xfrm>
            <a:off x="660400" y="4140200"/>
            <a:ext cx="10896600" cy="2159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B6B4BB-E420-C01B-4B2C-A0B4A453C1A3}"/>
              </a:ext>
            </a:extLst>
          </p:cNvPr>
          <p:cNvSpPr txBox="1"/>
          <p:nvPr/>
        </p:nvSpPr>
        <p:spPr>
          <a:xfrm>
            <a:off x="863600" y="4368800"/>
            <a:ext cx="3810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최근 로그 해석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75E5D-13D4-99E1-FA57-1FD130473881}"/>
              </a:ext>
            </a:extLst>
          </p:cNvPr>
          <p:cNvSpPr txBox="1"/>
          <p:nvPr/>
        </p:nvSpPr>
        <p:spPr>
          <a:xfrm>
            <a:off x="838200" y="4851400"/>
            <a:ext cx="10490200" cy="1323439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20260319_023912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Avg FPS 9.915, parse_fail 3, resync 25, dropped 5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health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확실히 좋아졌다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남은 문제는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zero-track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multi-track split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이제는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range gate / ROI / continuity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최적화 단계다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즉 “전체가 안 됨” 단계는 벗어났고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남은 병목이 더 구체적으로 보이기 시작했다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1363EF-196A-B778-0BEC-D954D2276E4F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E92992-ABEB-BE81-17AF-9F40A0948ACB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9190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DB6B8D7-6D4A-13C7-7A83-41E2F0DC93A1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05EA74-41BD-B1FB-2FE5-8DB094DA1248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D2BAC-9DAB-9437-4285-84C07851B86C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가져온 것과 직접 기여한 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CE685-74B2-29A9-52B2-B18F92E84E3C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교수님께는 이 구분을 분명히 보여주는 것이 가장 중요하다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A01EF4-667E-8D22-2A7A-F685EFF57850}"/>
              </a:ext>
            </a:extLst>
          </p:cNvPr>
          <p:cNvSpPr/>
          <p:nvPr/>
        </p:nvSpPr>
        <p:spPr>
          <a:xfrm>
            <a:off x="609600" y="1803400"/>
            <a:ext cx="3632200" cy="3708400"/>
          </a:xfrm>
          <a:prstGeom prst="rect">
            <a:avLst/>
          </a:prstGeom>
          <a:solidFill>
            <a:srgbClr val="E9F1FC"/>
          </a:solidFill>
          <a:ln w="15240">
            <a:solidFill>
              <a:srgbClr val="2C6F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AE148-81BA-88FA-B6C3-F8FE0A0A4C19}"/>
              </a:ext>
            </a:extLst>
          </p:cNvPr>
          <p:cNvSpPr txBox="1"/>
          <p:nvPr/>
        </p:nvSpPr>
        <p:spPr>
          <a:xfrm>
            <a:off x="812800" y="2032000"/>
            <a:ext cx="32004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가져온 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BDCAFE-2F20-0CE8-8619-A38674ED4DF4}"/>
              </a:ext>
            </a:extLst>
          </p:cNvPr>
          <p:cNvSpPr txBox="1"/>
          <p:nvPr/>
        </p:nvSpPr>
        <p:spPr>
          <a:xfrm>
            <a:off x="787400" y="2540000"/>
            <a:ext cx="3276600" cy="192360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DBSCAN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알고리즘 구현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Kalman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수학 기반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TI TLV parsing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아이디어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기본 시각화 도구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1F0E8D7-31BF-5984-BDAC-1B4428CDCD98}"/>
              </a:ext>
            </a:extLst>
          </p:cNvPr>
          <p:cNvSpPr/>
          <p:nvPr/>
        </p:nvSpPr>
        <p:spPr>
          <a:xfrm>
            <a:off x="4521200" y="1803400"/>
            <a:ext cx="7061200" cy="37084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04331F-7AC4-6C61-2F7B-B4A0E50F7797}"/>
              </a:ext>
            </a:extLst>
          </p:cNvPr>
          <p:cNvSpPr txBox="1"/>
          <p:nvPr/>
        </p:nvSpPr>
        <p:spPr>
          <a:xfrm>
            <a:off x="4724400" y="2032000"/>
            <a:ext cx="66294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직접 기여한 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1D5189-4416-2D71-5C37-0156A9EDBB58}"/>
              </a:ext>
            </a:extLst>
          </p:cNvPr>
          <p:cNvSpPr txBox="1"/>
          <p:nvPr/>
        </p:nvSpPr>
        <p:spPr>
          <a:xfrm>
            <a:off x="4699000" y="2540000"/>
            <a:ext cx="6705600" cy="2800767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환경 재현성과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cfg bring-up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체계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parser validity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정책과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health logging</a:t>
            </a:r>
          </a:p>
          <a:p>
            <a:endParaRPr lang="en-US" altLang="ko-KR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shared runtime pipeline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과 공용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params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yaw / pitch / height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기반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world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viewer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 재설계와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draw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자동 리포트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성능 로그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REQ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문서 패키지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1D9064-446C-B4CF-F554-674BF662E2ED}"/>
              </a:ext>
            </a:extLst>
          </p:cNvPr>
          <p:cNvSpPr txBox="1"/>
          <p:nvPr/>
        </p:nvSpPr>
        <p:spPr>
          <a:xfrm>
            <a:off x="660400" y="6019800"/>
            <a:ext cx="10871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발표 결론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라이브러리를 “붙였다”가 아니라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 위에 신뢰 가능한 레이더 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SW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운영 구조를 직접 설계했다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B82F7F-11AD-7348-BBE2-A3BB3B025C24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A2215F-E995-0BA0-1743-D07508AB690D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123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242FA75-853F-BFBF-260D-22E18F738296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605F0D-0B35-2786-7EC7-6D13B9CD3D98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F2299-1C12-D96D-FA9D-495F99A9C5E3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 상태와 다음 단계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56B39-1A8D-5F65-9D5A-CEB90FC5047E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무엇이 해결됐고</a:t>
            </a:r>
            <a:r>
              <a:rPr lang="en-US" altLang="ko-KR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무엇이 앞으로 남았는지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C46819-2214-79FB-2869-7E0F8FAC1296}"/>
              </a:ext>
            </a:extLst>
          </p:cNvPr>
          <p:cNvSpPr/>
          <p:nvPr/>
        </p:nvSpPr>
        <p:spPr>
          <a:xfrm>
            <a:off x="609600" y="1828800"/>
            <a:ext cx="5130800" cy="37846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E2C919-D767-3C6D-3E96-DBB1A9211122}"/>
              </a:ext>
            </a:extLst>
          </p:cNvPr>
          <p:cNvSpPr txBox="1"/>
          <p:nvPr/>
        </p:nvSpPr>
        <p:spPr>
          <a:xfrm>
            <a:off x="812800" y="2057400"/>
            <a:ext cx="4699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 확보한 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AA6FE-493E-5662-97D4-FC16C9E5BF1D}"/>
              </a:ext>
            </a:extLst>
          </p:cNvPr>
          <p:cNvSpPr txBox="1"/>
          <p:nvPr/>
        </p:nvSpPr>
        <p:spPr>
          <a:xfrm>
            <a:off x="787400" y="2565400"/>
            <a:ext cx="4775200" cy="192360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shared runtime pipeline</a:t>
            </a:r>
          </a:p>
          <a:p>
            <a:endParaRPr lang="en-US" altLang="ko-KR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viewer/runtime truth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정렬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world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보정과 </a:t>
            </a:r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draw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자동 실험 리포트와 요구사항 문서화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3902FA-E826-2389-F601-9697C3575B75}"/>
              </a:ext>
            </a:extLst>
          </p:cNvPr>
          <p:cNvSpPr/>
          <p:nvPr/>
        </p:nvSpPr>
        <p:spPr>
          <a:xfrm>
            <a:off x="6096000" y="1828800"/>
            <a:ext cx="5486400" cy="3784600"/>
          </a:xfrm>
          <a:prstGeom prst="rect">
            <a:avLst/>
          </a:prstGeom>
          <a:solidFill>
            <a:srgbClr val="FFF6E2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93644-5D5E-204C-9E43-7E32CA62A758}"/>
              </a:ext>
            </a:extLst>
          </p:cNvPr>
          <p:cNvSpPr txBox="1"/>
          <p:nvPr/>
        </p:nvSpPr>
        <p:spPr>
          <a:xfrm>
            <a:off x="6299200" y="2057400"/>
            <a:ext cx="50546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다음 단계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D05450-D5E5-E5C5-C9A9-2D35A3127B1B}"/>
              </a:ext>
            </a:extLst>
          </p:cNvPr>
          <p:cNvSpPr txBox="1"/>
          <p:nvPr/>
        </p:nvSpPr>
        <p:spPr>
          <a:xfrm>
            <a:off x="6273800" y="2565400"/>
            <a:ext cx="5130800" cy="244682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health gate: stale / malformed / dropped burst fail-safe</a:t>
            </a:r>
          </a:p>
          <a:p>
            <a:endParaRPr lang="en-US" altLang="ko-KR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max / p95 latency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등 </a:t>
            </a:r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worst-case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지표 추가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EMPTY_SCENE vs SENSOR_UNHEALTHY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RTOS task / queue / WCET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</a:t>
            </a:r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reference skeleton</a:t>
            </a:r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068E54A-3E66-84A7-5402-28A1BD1809A1}"/>
              </a:ext>
            </a:extLst>
          </p:cNvPr>
          <p:cNvSpPr/>
          <p:nvPr/>
        </p:nvSpPr>
        <p:spPr>
          <a:xfrm>
            <a:off x="609600" y="5892800"/>
            <a:ext cx="10972800" cy="711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CB759B-3297-6380-7E76-A6BA5C60D040}"/>
              </a:ext>
            </a:extLst>
          </p:cNvPr>
          <p:cNvSpPr txBox="1"/>
          <p:nvPr/>
        </p:nvSpPr>
        <p:spPr>
          <a:xfrm>
            <a:off x="762000" y="6070600"/>
            <a:ext cx="10668000" cy="55399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최종 메시지</a:t>
            </a:r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5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수정이 많았던 이유는 라이브러리가 부족해서가 아니라</a:t>
            </a:r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5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장비에서 믿을 수 있는 시스템으로 바꾸는 과정이었기 때문이다</a:t>
            </a:r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5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DB4828-011B-D52A-3CA6-A34AB21749EF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1272A1-72BB-5489-0E89-1A0BFB6A47F9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7750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880</Words>
  <Application>Microsoft Office PowerPoint</Application>
  <PresentationFormat>와이드스크린</PresentationFormat>
  <Paragraphs>154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정진수</dc:creator>
  <cp:lastModifiedBy>정진수</cp:lastModifiedBy>
  <cp:revision>1</cp:revision>
  <dcterms:created xsi:type="dcterms:W3CDTF">2026-03-22T08:31:43Z</dcterms:created>
  <dcterms:modified xsi:type="dcterms:W3CDTF">2026-03-22T08:31:43Z</dcterms:modified>
</cp:coreProperties>
</file>